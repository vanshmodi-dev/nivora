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afc796-17e9-d48f-7e49-02536b98eec2}">
          <p14:sldIdLst>
            <p14:sldId id="256"/>
          </p14:sldIdLst>
        </p14:section>
        <p14:section name="Problem &amp; user" id="{1cd8183b-ac99-99f4-5ad6-7c69e03e182a}">
          <p14:sldIdLst>
            <p14:sldId id="257"/>
            <p14:sldId id="258"/>
          </p14:sldIdLst>
        </p14:section>
        <p14:section name="Solution &amp; product" id="{41e33a89-c690-f974-08af-db214e708264}">
          <p14:sldIdLst>
            <p14:sldId id="259"/>
            <p14:sldId id="260"/>
            <p14:sldId id="261"/>
          </p14:sldIdLst>
        </p14:section>
        <p14:section name="Business" id="{b25c8489-9e40-a6e8-d369-42bdd97dd508}">
          <p14:sldIdLst>
            <p14:sldId id="262"/>
            <p14:sldId id="263"/>
            <p14:sldId id="264"/>
          </p14:sldIdLst>
        </p14:section>
        <p14:section name="Closing" id="{1cd2d8f0-051d-11b6-7e9e-2d12dd3ca689}">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Introduce NIVORA and the one idea behind it: finding a place to live should feel connected, convenient and trustworthy.
SCRIPT (0:20):
Good morning, everyone. This is NIVORA, the rental living ecosystem.
Our idea is simple. Finding a place to live should feel connected, convenient and trustworthy. Right now it often doesn't.
In the next few minutes we'll show you the problem, the people we're starting with, what we've already built, and how we plan to turn it into a real service.
TRANSITION: Let's start with what renting actually feels like today.
CAVEAT — DO NOT OVERLOOK: Introduce the team only by details the team has confirmed. Don't use a team name, competition name or affiliation that hasn't been confirmed. The cover photo is an illustrative stock image (Pexels), not a NIVORA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problem isn't only finding a property. It's a chain of related decisions with no connected experience.
SCRIPT (0:45):
Picture a student arriving in a new city for college, or someone starting a new job.
Finding a home isn't one task. They search across portals, brokers, groups and word of mouth. They compare places whose details don't line up. They try to work out whether a listing is genuine. They arrange calls and visits on separate channels. Then come the agreement, the deposit and the move.
Every step happens somewhere else.
This is not a niche situation. The 2011 Census counted about 2.17 crore urban households living in rented homes. And NSSO data, cited in a 2019 Knight Frank and Khaitan &amp; Co. report, found that 71 percent of renting households had no written agreement. Much of renting in India is still informal.
So the problem isn't just finding a property. It's getting through a whole set of decisions without one connected experience.
TRANSITION: So who feels this most, and where do we start?
CAVEAT — DO NOT OVERLOOK: The five stages describe the problem as we frame it. They are not survey findings. Both figures are national and dated (Census 2011, and NSSO data quoted in a 2019 report), so don't present them as Jaipur figures or current numbers. The 71 percent figure is about written agreements, not scams or fraud. Don't add statistics about scams, broker fees or time wasted.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We start with a focused audience whose search is tied to a specific place: students and working professionals.
SCRIPT (0:40):
We're not building for everyone on day one.
We start with two groups. Students, who need a place near their college or university and have to balance distance, budget, room type and everyday convenience. And working professionals, who want a home within practical reach of their workplace.
Both share the same core needs: the right location, the right budget, living preferences that suit them, and confidence that the listing is real.
Property owners are the other side of the platform. Every renter's journey depends on them, and we'll come to them in the business model.
Our proposed starting point is focused rental discovery around selected college and office clusters in Jaipur.
TRANSITION: Here's how NIVORA brings that journey together.
CAVEAT — DO NOT OVERLOOK: Jaipur is a proposed launch strategy, not proven demand. We have no user research, survey or interview results yet, so don't quote any. The photos are illustrative stock interiors, not real users or NIVORA listings. Expanding to other segments depends on validating this first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NIVORA is designed as one connected experience, not just another directory of listings.
SCRIPT (0:40):
NIVORA brings the important parts of the rental journey into one experience. We think about it in three parts.
Discover: you search around a place that matters to you, such as a college or a workplace, within a radius you choose, and filter by budget and preferences.
Make informed choices: each listing shows its details and four separate trust checks, so you can see what has been checked and what hasn't.
Connect the journey: the tenant and owner views already share the same visit requests. Agreements, payments and move-in support will come only as we actually build them.
This is the welcome screen of our working prototype.
TRANSITION: Rather than describe it, let me show you the experience.
CAVEAT — DO NOT OVERLOOK: Be clear about what exists now and what doesn't. Discovery and trust labels run on fictional demo data. No real verification, payments, agreements or production backend exist. The screenshot is the real prototype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working prototype makes the experience tangible: a guided, location-led search from first question to matching homes.
SCRIPT (0:50):
This is the prototype as it runs today.
First, you meet Nivi, our guide. She asks one question at a time, starting with your name.
Next, you choose where to search around. In this demo it's Vivekananda Global University, which we use as a test destination. Then you set a radius from 2 to 10 kilometres. It's straight-line distance on the map, and we say so on screen.
Then you share preferences: furnishing, budget, home type, bedrooms and must-haves.
Finally, you see the matching homes. Each card shows the distance from your destination and how many checks it has, and you can open any home to see its details and request a visit.
Every listing here is demonstration data, and we label it that way inside the product.
TRANSITION: That brings us to what we think makes NIVORA different, and to trust.
CAVEAT — DO NOT OVERLOOK: Listings, prices and owners are fictional. Map positions are simulated. Photos are illustrative stock images (Pexels), not the actual homes. Distances are straight-line, not travel time. VGU is a test destination at an approximate location, with no affiliation or endorsement. Don't call these results live availability. The radius and place screenshots come from the project's evidence folder (10 Oct 2026). The results screenshot was captured from the demo build on 12 Oct 2026 and cropped to the listing cards, because map tiles couldn't load in that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Our difference is a strategy: location-relevant discovery, trust that is itemised and honest, and a journey that stays connected.
SCRIPT (0:45):
Where's the difference?
First, discovery starts from a place that matters to you, such as your college or office, not just a city name.
Second, trust is built in. A single 'verified' tick can hide a lot, so we split trust into four checks: who the owner is, whether they can rent the home, whether the listing is accurate, and whether it's still available. Each one shows its status separately.
To be clear, in the prototype these are demo labels. A real system would need defined checks, supporting evidence, transparency for renters, and someone accountable for the process. That is part of our roadmap.
Third, discovery, visit requests and owner follow-up already sit in one shared flow, and we'll extend it only as each stage becomes real.
TRANSITION: So how does this become a business?
CAVEAT — DO NOT OVERLOOK: We make no claims about what competitors lack. Present this as our strategy, not as superiority. Verification is simulated: nothing about a real person or property has been checked. Location search has one founder-designated test destination, and the wider location verification work isn't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A proposed two-sided model with two possible revenue streams. It's a hypothesis to validate, not current revenue.
SCRIPT (0:40):
NIVORA sits between two groups. Tenants get relevant homes, clearer information and a guided journey. Owners get suitable enquiries and an organised way to manage listings.
We see two possible revenue streams.
One is a clearly disclosed fee linked to a completed rental, but only if it turns out to be legally appropriate and workable in practice.
The other is optional paid tools for owners, such as listing management or rent and maintenance tracking, but only where owners see genuine value.
We haven't set prices. Before we do, we need evidence on willingness to pay, unit economics, the cost of acquiring users, and the real cost of delivering verification.
TRANSITION: Which brings us to where we start, and how we earn the right to grow.
CAVEAT — DO NOT OVERLOOK: No pricing, take rate, revenue, projections or customer numbers exist, so don't give any. Rent and maintenance tracking exist in the prototype only as local demo records. Any fee model must be checked against applicable law and regulations.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Start narrow in Jaipur, prove it works, then expand only with evidence.
SCRIPT (0:40):
The national picture shows renting and student mobility are significant. About 2.17 crore urban households rented their homes in 2011, and India had about 4.33 crore students in higher education in 2021-22.
But that is not our addressable market, and we won't pretend it is.
Our plan is to start small. Phase one is a focused Jaipur pilot: a few college or office clusters, real owners, and genuine listings. Phase two is validation: feedback from tenants and owners, and measuring things like listing relevance and completed enquiries. Phase three is controlled expansion, only once we have evidence of demand, listing quality and sustainable growth.
Sizing the Jaipur opportunity is itself part of the pilot. We'll do it cluster by cluster.
TRANSITION: Here's what it takes to make that plan real.
CAVEAT — DO NOT OVERLOOK: Both figures are national, from different years and different measures. Don't add them together or treat them as a TAM. No Jaipur market size has been estimated yet. No pilot has happened and there are no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Be honest about what exists, what comes next, and how we reduce risk.
SCRIPT (0:45):
Here's where we honestly are.
We have a working prototype: the brand intro, guided onboarding with Nivi, radius search around a test destination, demo listings with itemised checks, and tenant and owner views that share the same visit requests. Its automated test suite passes.
What we don't have yet is the real-world operation, and the next three stages are about building it.
Stage one: validate. We'll refine the tenant experience, talk to renters and owners, and agree in advance what pilot success looks like.
Stage two: build the foundation. That means real verification procedures, a production backend, proper privacy and data handling, clear support responsibilities, and legal checks before we touch agreements or payments.
Stage three: a controlled pilot with genuine listings. We'll measure outcomes and improve before expanding.
These are the measures we'll track. We haven't set targets, because we don't yet have a baseline.
TRANSITION: Let me close where we started.
CAVEAT — DO NOT OVERLOOK: All three stages are proposed. Don't give dates, funding, partners or team capabilities that haven't been confirmed. The release-candidate report (11 Oct 2026) records 520 passing automated tests. It also says the prototype is not yet signed off as demo-ready until the founder's checks and a physical rehearsal are done. No pilot metrics have been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End on the human idea, then invite the judges into the prototype.
SCRIPT (0:20):
For most people, a new home is the start of a new chapter: a new college, a new job, a new city.
NIVORA is our attempt to make that journey more connected, more considerate and more honest about trust.
Your next chapter starts at home.
Thank you. We'd love to show you the prototype.
(Pause.)
TRANSITION: Move to the live demo, if the format allows. Follow docs/DEMO_RUNBOOK.md and start from Reset demo data.
CAVEAT — DO NOT OVERLOOK: During the demo, say that the data is fictional and that nothing is verified, paid or sent. The closing photo is an illustrative stock image (Pexels).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VORA_LIGHT">
    <p:bg>
      <p:bgPr>
        <a:solidFill>
          <a:srgbClr val="F5F3EE"/>
        </a:solidFill>
      </p:bgPr>
    </p:bg>
    <p:spTree>
      <p:nvGrpSpPr>
        <p:cNvPr id="1" name=""/>
        <p:cNvGrpSpPr/>
        <p:nvPr/>
      </p:nvGrpSpPr>
      <p:grpSpPr>
        <a:xfrm>
          <a:off x="0" y="0"/>
          <a:ext cx="0" cy="0"/>
          <a:chOff x="0" y="0"/>
          <a:chExt cx="0" cy="0"/>
        </a:xfrm>
      </p:grpSpPr>
      <p:pic>
        <p:nvPicPr>
          <p:cNvPr id="2" name="Image 0" descr="/home/claude/work/assets/mark_grey.png">    </p:cNvPr>
          <p:cNvPicPr>
            <a:picLocks noChangeAspect="1"/>
          </p:cNvPicPr>
          <p:nvPr/>
        </p:nvPicPr>
        <p:blipFill>
          <a:blip r:embed="rId1"/>
          <a:stretch>
            <a:fillRect/>
          </a:stretch>
        </p:blipFill>
        <p:spPr>
          <a:xfrm>
            <a:off x="685800" y="6373368"/>
            <a:ext cx="182880" cy="182880"/>
          </a:xfrm>
          <a:prstGeom prst="rect">
            <a:avLst/>
          </a:prstGeom>
        </p:spPr>
      </p:pic>
      <p:sp>
        <p:nvSpPr>
          <p:cNvPr id="3" name="Text 0"/>
          <p:cNvSpPr/>
          <p:nvPr/>
        </p:nvSpPr>
        <p:spPr>
          <a:xfrm>
            <a:off x="941832" y="6355080"/>
            <a:ext cx="1828800" cy="219456"/>
          </a:xfrm>
          <a:prstGeom prst="rect">
            <a:avLst/>
          </a:prstGeom>
          <a:noFill/>
          <a:ln/>
        </p:spPr>
        <p:txBody>
          <a:bodyPr wrap="square" lIns="0" tIns="0" rIns="0" bIns="0" rtlCol="0" anchor="ctr"/>
          <a:lstStyle/>
          <a:p>
            <a:pPr indent="0" marL="0">
              <a:buNone/>
            </a:pPr>
            <a:r>
              <a:rPr lang="en-US" sz="900" b="1" spc="300" kern="0" dirty="0">
                <a:solidFill>
                  <a:schemeClr val="accent3"/>
                </a:solidFill>
              </a:rPr>
              <a:t>NIVORA</a:t>
            </a:r>
            <a:endParaRPr lang="en-US" sz="900" dirty="0"/>
          </a:p>
        </p:txBody>
      </p:sp>
      <p:sp>
        <p:nvSpPr>
          <p:cNvPr id="4" name="Text 1"/>
          <p:cNvSpPr/>
          <p:nvPr>
            <p:ph idx="102" type="body" hasCustomPrompt="1"/>
          </p:nvPr>
        </p:nvSpPr>
        <p:spPr>
          <a:xfrm>
            <a:off x="685800" y="438912"/>
            <a:ext cx="82296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685800" y="749808"/>
            <a:ext cx="10820095" cy="731520"/>
          </a:xfrm>
          <a:prstGeom prst="rect">
            <a:avLst/>
          </a:prstGeom>
          <a:noFill/>
          <a:ln/>
        </p:spPr>
        <p:txBody>
          <a:bodyPr wrap="square" rtlCol="0"/>
          <a:lstStyle>
            <a:lvl1pPr algn="l" indent="0" marL="0">
              <a:buNone/>
              <a:defRPr lang="en-US" sz="3000" b="1" dirty="0">
                <a:solidFill>
                  <a:schemeClr val="tx1"/>
                </a:solidFill>
                <a:latin typeface="Inter" pitchFamily="34" charset="0"/>
                <a:ea typeface="Inter" pitchFamily="34" charset="-122"/>
                <a:cs typeface="Inter"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57255" y="6355080"/>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IVORA_DARK">
    <p:bg>
      <p:bgPr>
        <a:solidFill>
          <a:srgbClr val="09090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unlit empty room with a large window (illustrative photo)">    </p:cNvPr>
          <p:cNvPicPr>
            <a:picLocks noChangeAspect="1"/>
          </p:cNvPicPr>
          <p:nvPr/>
        </p:nvPicPr>
        <p:blipFill>
          <a:blip r:embed="rId1"/>
          <a:stretch>
            <a:fillRect/>
          </a:stretch>
        </p:blipFill>
        <p:spPr>
          <a:xfrm>
            <a:off x="5242255" y="0"/>
            <a:ext cx="6949440" cy="6858000"/>
          </a:xfrm>
          <a:prstGeom prst="rect">
            <a:avLst/>
          </a:prstGeom>
        </p:spPr>
      </p:pic>
      <p:pic>
        <p:nvPicPr>
          <p:cNvPr id="3" name="Image 1" descr="/home/claude/work/assets/cover_grad.png">    </p:cNvPr>
          <p:cNvPicPr>
            <a:picLocks noChangeAspect="1"/>
          </p:cNvPicPr>
          <p:nvPr/>
        </p:nvPicPr>
        <p:blipFill>
          <a:blip r:embed="rId2"/>
          <a:stretch>
            <a:fillRect/>
          </a:stretch>
        </p:blipFill>
        <p:spPr>
          <a:xfrm>
            <a:off x="5242255" y="0"/>
            <a:ext cx="6949440" cy="6858000"/>
          </a:xfrm>
          <a:prstGeom prst="rect">
            <a:avLst/>
          </a:prstGeom>
        </p:spPr>
      </p:pic>
      <p:pic>
        <p:nvPicPr>
          <p:cNvPr id="4" name="Image 2" descr="NIVORA mark">    </p:cNvPr>
          <p:cNvPicPr>
            <a:picLocks noChangeAspect="1"/>
          </p:cNvPicPr>
          <p:nvPr/>
        </p:nvPicPr>
        <p:blipFill>
          <a:blip r:embed="rId3"/>
          <a:stretch>
            <a:fillRect/>
          </a:stretch>
        </p:blipFill>
        <p:spPr>
          <a:xfrm>
            <a:off x="731520" y="1874520"/>
            <a:ext cx="640080" cy="640080"/>
          </a:xfrm>
          <a:prstGeom prst="rect">
            <a:avLst/>
          </a:prstGeom>
        </p:spPr>
      </p:pic>
      <p:sp>
        <p:nvSpPr>
          <p:cNvPr id="5" name="Text 0"/>
          <p:cNvSpPr txBox="1"/>
          <p:nvPr/>
        </p:nvSpPr>
        <p:spPr>
          <a:xfrm>
            <a:off x="685800" y="2697480"/>
            <a:ext cx="6035040" cy="960120"/>
          </a:xfrm>
          <a:prstGeom prst="rect">
            <a:avLst/>
          </a:prstGeom>
          <a:noFill/>
          <a:ln/>
        </p:spPr>
        <p:txBody>
          <a:bodyPr wrap="square" lIns="0" tIns="0" rIns="0" bIns="0" rtlCol="0" anchor="ctr"/>
          <a:lstStyle/>
          <a:p>
            <a:pPr indent="0" marL="0">
              <a:buNone/>
            </a:pPr>
            <a:r>
              <a:rPr lang="en-US" sz="6000" b="1" spc="1000" kern="0" dirty="0">
                <a:solidFill>
                  <a:schemeClr val="bg1"/>
                </a:solidFill>
                <a:latin typeface="Inter" pitchFamily="34" charset="0"/>
                <a:ea typeface="Inter" pitchFamily="34" charset="-122"/>
                <a:cs typeface="Inter" pitchFamily="34" charset="-120"/>
              </a:rPr>
              <a:t>NIVORA</a:t>
            </a:r>
            <a:endParaRPr lang="en-US" sz="6000" dirty="0"/>
          </a:p>
        </p:txBody>
      </p:sp>
      <p:sp>
        <p:nvSpPr>
          <p:cNvPr id="6" name="Text 1"/>
          <p:cNvSpPr txBox="1"/>
          <p:nvPr/>
        </p:nvSpPr>
        <p:spPr>
          <a:xfrm>
            <a:off x="713232" y="3703320"/>
            <a:ext cx="5943600" cy="292608"/>
          </a:xfrm>
          <a:prstGeom prst="rect">
            <a:avLst/>
          </a:prstGeom>
          <a:noFill/>
          <a:ln/>
        </p:spPr>
        <p:txBody>
          <a:bodyPr wrap="square" lIns="0" tIns="0" rIns="0" bIns="0" rtlCol="0" anchor="ctr"/>
          <a:lstStyle/>
          <a:p>
            <a:pPr indent="0" marL="0">
              <a:buNone/>
            </a:pPr>
            <a:r>
              <a:rPr lang="en-US" sz="1300" b="1" spc="500" kern="0" dirty="0">
                <a:solidFill>
                  <a:schemeClr val="accent2"/>
                </a:solidFill>
                <a:latin typeface="Inter" pitchFamily="34" charset="0"/>
                <a:ea typeface="Inter" pitchFamily="34" charset="-122"/>
                <a:cs typeface="Inter" pitchFamily="34" charset="-120"/>
              </a:rPr>
              <a:t>THE RENTAL LIVING ECOSYSTEM</a:t>
            </a:r>
            <a:endParaRPr lang="en-US" sz="1300" dirty="0"/>
          </a:p>
        </p:txBody>
      </p:sp>
      <p:sp>
        <p:nvSpPr>
          <p:cNvPr id="7" name="Shape 2"/>
          <p:cNvSpPr/>
          <p:nvPr/>
        </p:nvSpPr>
        <p:spPr>
          <a:xfrm>
            <a:off x="713232" y="4315968"/>
            <a:ext cx="640080" cy="0"/>
          </a:xfrm>
          <a:prstGeom prst="line">
            <a:avLst/>
          </a:prstGeom>
          <a:noFill/>
          <a:ln w="15875">
            <a:solidFill>
              <a:schemeClr val="accent1"/>
            </a:solidFill>
            <a:prstDash val="solid"/>
          </a:ln>
        </p:spPr>
      </p:sp>
      <p:sp>
        <p:nvSpPr>
          <p:cNvPr id="8" name="Text 3"/>
          <p:cNvSpPr txBox="1"/>
          <p:nvPr/>
        </p:nvSpPr>
        <p:spPr>
          <a:xfrm>
            <a:off x="713232" y="4526280"/>
            <a:ext cx="5852160" cy="548640"/>
          </a:xfrm>
          <a:prstGeom prst="rect">
            <a:avLst/>
          </a:prstGeom>
          <a:noFill/>
          <a:ln/>
        </p:spPr>
        <p:txBody>
          <a:bodyPr wrap="square" lIns="0" tIns="0" rIns="0" bIns="0" rtlCol="0" anchor="ctr"/>
          <a:lstStyle/>
          <a:p>
            <a:pPr indent="0" marL="0">
              <a:buNone/>
            </a:pPr>
            <a:r>
              <a:rPr lang="en-US" sz="2400" dirty="0">
                <a:solidFill>
                  <a:schemeClr val="bg1"/>
                </a:solidFill>
                <a:latin typeface="Inter" pitchFamily="34" charset="0"/>
                <a:ea typeface="Inter" pitchFamily="34" charset="-122"/>
                <a:cs typeface="Inter" pitchFamily="34" charset="-120"/>
              </a:rPr>
              <a:t>Your next chapter starts at home.</a:t>
            </a:r>
            <a:endParaRPr lang="en-US" sz="2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685800" y="438912"/>
            <a:ext cx="82296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THE PROBLEM</a:t>
            </a:r>
            <a:endParaRPr lang="en-US" sz="1100" dirty="0"/>
          </a:p>
        </p:txBody>
      </p:sp>
      <p:sp>
        <p:nvSpPr>
          <p:cNvPr id="3" name="Text 1"/>
          <p:cNvSpPr/>
          <p:nvPr>
            <p:ph idx="103" type="title" hasCustomPrompt="1"/>
          </p:nvPr>
        </p:nvSpPr>
        <p:spPr>
          <a:xfrm>
            <a:off x="685800" y="749808"/>
            <a:ext cx="10820095" cy="731520"/>
          </a:xfrm>
          <a:prstGeom prst="rect">
            <a:avLst/>
          </a:prstGeom>
          <a:noFill/>
          <a:ln/>
        </p:spPr>
        <p:txBody>
          <a:bodyPr wrap="square" lIns="0" tIns="0" rIns="0" bIns="0" rtlCol="0" anchor="t"/>
          <a:lstStyle/>
          <a:p>
            <a:pPr algn="l" indent="0" marL="0">
              <a:buNone/>
            </a:pPr>
            <a:r>
              <a:rPr lang="en-US" sz="3000" b="1" dirty="0">
                <a:solidFill>
                  <a:schemeClr val="tx1"/>
                </a:solidFill>
                <a:latin typeface="Inter" pitchFamily="34" charset="0"/>
                <a:ea typeface="Inter" pitchFamily="34" charset="-122"/>
                <a:cs typeface="Inter" pitchFamily="34" charset="-120"/>
              </a:rPr>
              <a:t>Renting a home shouldn’t feel like solving a puzzle</a:t>
            </a:r>
            <a:endParaRPr lang="en-US" sz="3000" dirty="0"/>
          </a:p>
        </p:txBody>
      </p:sp>
      <p:sp>
        <p:nvSpPr>
          <p:cNvPr id="4" name="Text 2"/>
          <p:cNvSpPr txBox="1"/>
          <p:nvPr/>
        </p:nvSpPr>
        <p:spPr>
          <a:xfrm>
            <a:off x="685800" y="1481328"/>
            <a:ext cx="6949440" cy="685800"/>
          </a:xfrm>
          <a:prstGeom prst="rect">
            <a:avLst/>
          </a:prstGeom>
          <a:noFill/>
          <a:ln/>
        </p:spPr>
        <p:txBody>
          <a:bodyPr wrap="square" lIns="0" tIns="0" rIns="0" bIns="0" rtlCol="0" anchor="t"/>
          <a:lstStyle/>
          <a:p>
            <a:pPr indent="0" marL="0">
              <a:buNone/>
            </a:pPr>
            <a:r>
              <a:rPr lang="en-US" sz="1600" dirty="0">
                <a:solidFill>
                  <a:schemeClr val="accent3"/>
                </a:solidFill>
                <a:latin typeface="Inter" pitchFamily="34" charset="0"/>
                <a:ea typeface="Inter" pitchFamily="34" charset="-122"/>
                <a:cs typeface="Inter" pitchFamily="34" charset="-120"/>
              </a:rPr>
              <a:t>Finding a home is only the beginning. Renters often piece together information, checks and conversations across separate channels.</a:t>
            </a:r>
            <a:endParaRPr lang="en-US" sz="1600" dirty="0"/>
          </a:p>
        </p:txBody>
      </p:sp>
      <p:sp>
        <p:nvSpPr>
          <p:cNvPr id="5" name="Shape 3"/>
          <p:cNvSpPr/>
          <p:nvPr/>
        </p:nvSpPr>
        <p:spPr>
          <a:xfrm>
            <a:off x="685800" y="2377440"/>
            <a:ext cx="512064" cy="512064"/>
          </a:xfrm>
          <a:prstGeom prst="ellipse">
            <a:avLst/>
          </a:prstGeom>
          <a:solidFill>
            <a:schemeClr val="tx2"/>
          </a:solidFill>
          <a:ln/>
        </p:spPr>
      </p:sp>
      <p:pic>
        <p:nvPicPr>
          <p:cNvPr id="6" name="Image 0" descr="/home/claude/work/assets/search_gold.png">    </p:cNvPr>
          <p:cNvPicPr>
            <a:picLocks noChangeAspect="1"/>
          </p:cNvPicPr>
          <p:nvPr/>
        </p:nvPicPr>
        <p:blipFill>
          <a:blip r:embed="rId1"/>
          <a:stretch>
            <a:fillRect/>
          </a:stretch>
        </p:blipFill>
        <p:spPr>
          <a:xfrm>
            <a:off x="824057" y="2515697"/>
            <a:ext cx="235549" cy="235549"/>
          </a:xfrm>
          <a:prstGeom prst="rect">
            <a:avLst/>
          </a:prstGeom>
        </p:spPr>
      </p:pic>
      <p:sp>
        <p:nvSpPr>
          <p:cNvPr id="7" name="Shape 4"/>
          <p:cNvSpPr/>
          <p:nvPr/>
        </p:nvSpPr>
        <p:spPr>
          <a:xfrm>
            <a:off x="941832" y="2926080"/>
            <a:ext cx="0" cy="64008"/>
          </a:xfrm>
          <a:prstGeom prst="line">
            <a:avLst/>
          </a:prstGeom>
          <a:noFill/>
          <a:ln w="15875">
            <a:solidFill>
              <a:schemeClr val="accent1"/>
            </a:solidFill>
            <a:prstDash val="solid"/>
          </a:ln>
        </p:spPr>
      </p:sp>
      <p:sp>
        <p:nvSpPr>
          <p:cNvPr id="8" name="Shape 5"/>
          <p:cNvSpPr/>
          <p:nvPr/>
        </p:nvSpPr>
        <p:spPr>
          <a:xfrm>
            <a:off x="941832" y="3054096"/>
            <a:ext cx="0" cy="64008"/>
          </a:xfrm>
          <a:prstGeom prst="line">
            <a:avLst/>
          </a:prstGeom>
          <a:noFill/>
          <a:ln w="15875">
            <a:solidFill>
              <a:schemeClr val="accent1"/>
            </a:solidFill>
            <a:prstDash val="solid"/>
          </a:ln>
        </p:spPr>
      </p:sp>
      <p:sp>
        <p:nvSpPr>
          <p:cNvPr id="9" name="Text 6"/>
          <p:cNvSpPr txBox="1"/>
          <p:nvPr/>
        </p:nvSpPr>
        <p:spPr>
          <a:xfrm>
            <a:off x="1417320" y="2395728"/>
            <a:ext cx="1600200" cy="475488"/>
          </a:xfrm>
          <a:prstGeom prst="rect">
            <a:avLst/>
          </a:prstGeom>
          <a:noFill/>
          <a:ln/>
        </p:spPr>
        <p:txBody>
          <a:bodyPr wrap="square" lIns="0" tIns="0" rIns="0" bIns="0" rtlCol="0" anchor="ctr"/>
          <a:lstStyle/>
          <a:p>
            <a:pPr indent="0" marL="0">
              <a:buNone/>
            </a:pPr>
            <a:r>
              <a:rPr lang="en-US" sz="1800" b="1" dirty="0">
                <a:solidFill>
                  <a:schemeClr val="tx1"/>
                </a:solidFill>
                <a:latin typeface="Inter" pitchFamily="34" charset="0"/>
                <a:ea typeface="Inter" pitchFamily="34" charset="-122"/>
                <a:cs typeface="Inter" pitchFamily="34" charset="-120"/>
              </a:rPr>
              <a:t>Search</a:t>
            </a:r>
            <a:endParaRPr lang="en-US" sz="1800" dirty="0"/>
          </a:p>
        </p:txBody>
      </p:sp>
      <p:sp>
        <p:nvSpPr>
          <p:cNvPr id="10" name="Text 7"/>
          <p:cNvSpPr txBox="1"/>
          <p:nvPr/>
        </p:nvSpPr>
        <p:spPr>
          <a:xfrm>
            <a:off x="3063240" y="2395728"/>
            <a:ext cx="4663440" cy="475488"/>
          </a:xfrm>
          <a:prstGeom prst="rect">
            <a:avLst/>
          </a:prstGeom>
          <a:noFill/>
          <a:ln/>
        </p:spPr>
        <p:txBody>
          <a:bodyPr wrap="square" lIns="0" tIns="0" rIns="0" bIns="0" rtlCol="0" anchor="ctr"/>
          <a:lstStyle/>
          <a:p>
            <a:pPr indent="0" marL="0">
              <a:buNone/>
            </a:pPr>
            <a:r>
              <a:rPr lang="en-US" sz="1400" dirty="0">
                <a:solidFill>
                  <a:schemeClr val="accent3"/>
                </a:solidFill>
                <a:latin typeface="Inter" pitchFamily="34" charset="0"/>
                <a:ea typeface="Inter" pitchFamily="34" charset="-122"/>
                <a:cs typeface="Inter" pitchFamily="34" charset="-120"/>
              </a:rPr>
              <a:t>Options are spread across portals, brokers, groups and word of mouth</a:t>
            </a:r>
            <a:endParaRPr lang="en-US" sz="1400" dirty="0"/>
          </a:p>
        </p:txBody>
      </p:sp>
      <p:sp>
        <p:nvSpPr>
          <p:cNvPr id="11" name="Shape 8"/>
          <p:cNvSpPr/>
          <p:nvPr/>
        </p:nvSpPr>
        <p:spPr>
          <a:xfrm>
            <a:off x="685800" y="3145536"/>
            <a:ext cx="512064" cy="512064"/>
          </a:xfrm>
          <a:prstGeom prst="ellipse">
            <a:avLst/>
          </a:prstGeom>
          <a:solidFill>
            <a:schemeClr val="tx2"/>
          </a:solidFill>
          <a:ln/>
        </p:spPr>
      </p:sp>
      <p:pic>
        <p:nvPicPr>
          <p:cNvPr id="12" name="Image 1" descr="/home/claude/work/assets/compare_gold.png">    </p:cNvPr>
          <p:cNvPicPr>
            <a:picLocks noChangeAspect="1"/>
          </p:cNvPicPr>
          <p:nvPr/>
        </p:nvPicPr>
        <p:blipFill>
          <a:blip r:embed="rId2"/>
          <a:stretch>
            <a:fillRect/>
          </a:stretch>
        </p:blipFill>
        <p:spPr>
          <a:xfrm>
            <a:off x="824057" y="3283793"/>
            <a:ext cx="235549" cy="235549"/>
          </a:xfrm>
          <a:prstGeom prst="rect">
            <a:avLst/>
          </a:prstGeom>
        </p:spPr>
      </p:pic>
      <p:sp>
        <p:nvSpPr>
          <p:cNvPr id="13" name="Shape 9"/>
          <p:cNvSpPr/>
          <p:nvPr/>
        </p:nvSpPr>
        <p:spPr>
          <a:xfrm>
            <a:off x="941832" y="3694176"/>
            <a:ext cx="0" cy="64008"/>
          </a:xfrm>
          <a:prstGeom prst="line">
            <a:avLst/>
          </a:prstGeom>
          <a:noFill/>
          <a:ln w="15875">
            <a:solidFill>
              <a:schemeClr val="accent1"/>
            </a:solidFill>
            <a:prstDash val="solid"/>
          </a:ln>
        </p:spPr>
      </p:sp>
      <p:sp>
        <p:nvSpPr>
          <p:cNvPr id="14" name="Shape 10"/>
          <p:cNvSpPr/>
          <p:nvPr/>
        </p:nvSpPr>
        <p:spPr>
          <a:xfrm>
            <a:off x="941832" y="3822192"/>
            <a:ext cx="0" cy="64008"/>
          </a:xfrm>
          <a:prstGeom prst="line">
            <a:avLst/>
          </a:prstGeom>
          <a:noFill/>
          <a:ln w="15875">
            <a:solidFill>
              <a:schemeClr val="accent1"/>
            </a:solidFill>
            <a:prstDash val="solid"/>
          </a:ln>
        </p:spPr>
      </p:sp>
      <p:sp>
        <p:nvSpPr>
          <p:cNvPr id="15" name="Text 11"/>
          <p:cNvSpPr txBox="1"/>
          <p:nvPr/>
        </p:nvSpPr>
        <p:spPr>
          <a:xfrm>
            <a:off x="1417320" y="3163824"/>
            <a:ext cx="1600200" cy="475488"/>
          </a:xfrm>
          <a:prstGeom prst="rect">
            <a:avLst/>
          </a:prstGeom>
          <a:noFill/>
          <a:ln/>
        </p:spPr>
        <p:txBody>
          <a:bodyPr wrap="square" lIns="0" tIns="0" rIns="0" bIns="0" rtlCol="0" anchor="ctr"/>
          <a:lstStyle/>
          <a:p>
            <a:pPr indent="0" marL="0">
              <a:buNone/>
            </a:pPr>
            <a:r>
              <a:rPr lang="en-US" sz="1800" b="1" dirty="0">
                <a:solidFill>
                  <a:schemeClr val="tx1"/>
                </a:solidFill>
                <a:latin typeface="Inter" pitchFamily="34" charset="0"/>
                <a:ea typeface="Inter" pitchFamily="34" charset="-122"/>
                <a:cs typeface="Inter" pitchFamily="34" charset="-120"/>
              </a:rPr>
              <a:t>Compare</a:t>
            </a:r>
            <a:endParaRPr lang="en-US" sz="1800" dirty="0"/>
          </a:p>
        </p:txBody>
      </p:sp>
      <p:sp>
        <p:nvSpPr>
          <p:cNvPr id="16" name="Text 12"/>
          <p:cNvSpPr txBox="1"/>
          <p:nvPr/>
        </p:nvSpPr>
        <p:spPr>
          <a:xfrm>
            <a:off x="3063240" y="3163824"/>
            <a:ext cx="4663440" cy="475488"/>
          </a:xfrm>
          <a:prstGeom prst="rect">
            <a:avLst/>
          </a:prstGeom>
          <a:noFill/>
          <a:ln/>
        </p:spPr>
        <p:txBody>
          <a:bodyPr wrap="square" lIns="0" tIns="0" rIns="0" bIns="0" rtlCol="0" anchor="ctr"/>
          <a:lstStyle/>
          <a:p>
            <a:pPr indent="0" marL="0">
              <a:buNone/>
            </a:pPr>
            <a:r>
              <a:rPr lang="en-US" sz="1400" dirty="0">
                <a:solidFill>
                  <a:schemeClr val="accent3"/>
                </a:solidFill>
                <a:latin typeface="Inter" pitchFamily="34" charset="0"/>
                <a:ea typeface="Inter" pitchFamily="34" charset="-122"/>
                <a:cs typeface="Inter" pitchFamily="34" charset="-120"/>
              </a:rPr>
              <a:t>Location, budget and fit are judged from details that don’t line up</a:t>
            </a:r>
            <a:endParaRPr lang="en-US" sz="1400" dirty="0"/>
          </a:p>
        </p:txBody>
      </p:sp>
      <p:sp>
        <p:nvSpPr>
          <p:cNvPr id="17" name="Shape 13"/>
          <p:cNvSpPr/>
          <p:nvPr/>
        </p:nvSpPr>
        <p:spPr>
          <a:xfrm>
            <a:off x="685800" y="3913632"/>
            <a:ext cx="512064" cy="512064"/>
          </a:xfrm>
          <a:prstGeom prst="ellipse">
            <a:avLst/>
          </a:prstGeom>
          <a:solidFill>
            <a:schemeClr val="tx2"/>
          </a:solidFill>
          <a:ln/>
        </p:spPr>
      </p:sp>
      <p:pic>
        <p:nvPicPr>
          <p:cNvPr id="18" name="Image 2" descr="/home/claude/work/assets/verify_gold.png">    </p:cNvPr>
          <p:cNvPicPr>
            <a:picLocks noChangeAspect="1"/>
          </p:cNvPicPr>
          <p:nvPr/>
        </p:nvPicPr>
        <p:blipFill>
          <a:blip r:embed="rId3"/>
          <a:stretch>
            <a:fillRect/>
          </a:stretch>
        </p:blipFill>
        <p:spPr>
          <a:xfrm>
            <a:off x="824057" y="4051889"/>
            <a:ext cx="235549" cy="235549"/>
          </a:xfrm>
          <a:prstGeom prst="rect">
            <a:avLst/>
          </a:prstGeom>
        </p:spPr>
      </p:pic>
      <p:sp>
        <p:nvSpPr>
          <p:cNvPr id="19" name="Shape 14"/>
          <p:cNvSpPr/>
          <p:nvPr/>
        </p:nvSpPr>
        <p:spPr>
          <a:xfrm>
            <a:off x="941832" y="4462272"/>
            <a:ext cx="0" cy="64008"/>
          </a:xfrm>
          <a:prstGeom prst="line">
            <a:avLst/>
          </a:prstGeom>
          <a:noFill/>
          <a:ln w="15875">
            <a:solidFill>
              <a:schemeClr val="accent1"/>
            </a:solidFill>
            <a:prstDash val="solid"/>
          </a:ln>
        </p:spPr>
      </p:sp>
      <p:sp>
        <p:nvSpPr>
          <p:cNvPr id="20" name="Shape 15"/>
          <p:cNvSpPr/>
          <p:nvPr/>
        </p:nvSpPr>
        <p:spPr>
          <a:xfrm>
            <a:off x="941832" y="4590288"/>
            <a:ext cx="0" cy="64008"/>
          </a:xfrm>
          <a:prstGeom prst="line">
            <a:avLst/>
          </a:prstGeom>
          <a:noFill/>
          <a:ln w="15875">
            <a:solidFill>
              <a:schemeClr val="accent1"/>
            </a:solidFill>
            <a:prstDash val="solid"/>
          </a:ln>
        </p:spPr>
      </p:sp>
      <p:sp>
        <p:nvSpPr>
          <p:cNvPr id="21" name="Text 16"/>
          <p:cNvSpPr txBox="1"/>
          <p:nvPr/>
        </p:nvSpPr>
        <p:spPr>
          <a:xfrm>
            <a:off x="1417320" y="3931920"/>
            <a:ext cx="1600200" cy="475488"/>
          </a:xfrm>
          <a:prstGeom prst="rect">
            <a:avLst/>
          </a:prstGeom>
          <a:noFill/>
          <a:ln/>
        </p:spPr>
        <p:txBody>
          <a:bodyPr wrap="square" lIns="0" tIns="0" rIns="0" bIns="0" rtlCol="0" anchor="ctr"/>
          <a:lstStyle/>
          <a:p>
            <a:pPr indent="0" marL="0">
              <a:buNone/>
            </a:pPr>
            <a:r>
              <a:rPr lang="en-US" sz="1800" b="1" dirty="0">
                <a:solidFill>
                  <a:schemeClr val="tx1"/>
                </a:solidFill>
                <a:latin typeface="Inter" pitchFamily="34" charset="0"/>
                <a:ea typeface="Inter" pitchFamily="34" charset="-122"/>
                <a:cs typeface="Inter" pitchFamily="34" charset="-120"/>
              </a:rPr>
              <a:t>Verify</a:t>
            </a:r>
            <a:endParaRPr lang="en-US" sz="1800" dirty="0"/>
          </a:p>
        </p:txBody>
      </p:sp>
      <p:sp>
        <p:nvSpPr>
          <p:cNvPr id="22" name="Text 17"/>
          <p:cNvSpPr txBox="1"/>
          <p:nvPr/>
        </p:nvSpPr>
        <p:spPr>
          <a:xfrm>
            <a:off x="3063240" y="3931920"/>
            <a:ext cx="4663440" cy="475488"/>
          </a:xfrm>
          <a:prstGeom prst="rect">
            <a:avLst/>
          </a:prstGeom>
          <a:noFill/>
          <a:ln/>
        </p:spPr>
        <p:txBody>
          <a:bodyPr wrap="square" lIns="0" tIns="0" rIns="0" bIns="0" rtlCol="0" anchor="ctr"/>
          <a:lstStyle/>
          <a:p>
            <a:pPr indent="0" marL="0">
              <a:buNone/>
            </a:pPr>
            <a:r>
              <a:rPr lang="en-US" sz="1400" dirty="0">
                <a:solidFill>
                  <a:schemeClr val="accent3"/>
                </a:solidFill>
                <a:latin typeface="Inter" pitchFamily="34" charset="0"/>
                <a:ea typeface="Inter" pitchFamily="34" charset="-122"/>
                <a:cs typeface="Inter" pitchFamily="34" charset="-120"/>
              </a:rPr>
              <a:t>It’s hard to tell what, if anything, has actually been checked</a:t>
            </a:r>
            <a:endParaRPr lang="en-US" sz="1400" dirty="0"/>
          </a:p>
        </p:txBody>
      </p:sp>
      <p:sp>
        <p:nvSpPr>
          <p:cNvPr id="23" name="Shape 18"/>
          <p:cNvSpPr/>
          <p:nvPr/>
        </p:nvSpPr>
        <p:spPr>
          <a:xfrm>
            <a:off x="685800" y="4681728"/>
            <a:ext cx="512064" cy="512064"/>
          </a:xfrm>
          <a:prstGeom prst="ellipse">
            <a:avLst/>
          </a:prstGeom>
          <a:solidFill>
            <a:schemeClr val="tx2"/>
          </a:solidFill>
          <a:ln/>
        </p:spPr>
      </p:sp>
      <p:pic>
        <p:nvPicPr>
          <p:cNvPr id="24" name="Image 3" descr="/home/claude/work/assets/coord_gold.png">    </p:cNvPr>
          <p:cNvPicPr>
            <a:picLocks noChangeAspect="1"/>
          </p:cNvPicPr>
          <p:nvPr/>
        </p:nvPicPr>
        <p:blipFill>
          <a:blip r:embed="rId4"/>
          <a:stretch>
            <a:fillRect/>
          </a:stretch>
        </p:blipFill>
        <p:spPr>
          <a:xfrm>
            <a:off x="824057" y="4819985"/>
            <a:ext cx="235549" cy="235549"/>
          </a:xfrm>
          <a:prstGeom prst="rect">
            <a:avLst/>
          </a:prstGeom>
        </p:spPr>
      </p:pic>
      <p:sp>
        <p:nvSpPr>
          <p:cNvPr id="25" name="Shape 19"/>
          <p:cNvSpPr/>
          <p:nvPr/>
        </p:nvSpPr>
        <p:spPr>
          <a:xfrm>
            <a:off x="941832" y="5230368"/>
            <a:ext cx="0" cy="64008"/>
          </a:xfrm>
          <a:prstGeom prst="line">
            <a:avLst/>
          </a:prstGeom>
          <a:noFill/>
          <a:ln w="15875">
            <a:solidFill>
              <a:schemeClr val="accent1"/>
            </a:solidFill>
            <a:prstDash val="solid"/>
          </a:ln>
        </p:spPr>
      </p:sp>
      <p:sp>
        <p:nvSpPr>
          <p:cNvPr id="26" name="Shape 20"/>
          <p:cNvSpPr/>
          <p:nvPr/>
        </p:nvSpPr>
        <p:spPr>
          <a:xfrm>
            <a:off x="941832" y="5358384"/>
            <a:ext cx="0" cy="64008"/>
          </a:xfrm>
          <a:prstGeom prst="line">
            <a:avLst/>
          </a:prstGeom>
          <a:noFill/>
          <a:ln w="15875">
            <a:solidFill>
              <a:schemeClr val="accent1"/>
            </a:solidFill>
            <a:prstDash val="solid"/>
          </a:ln>
        </p:spPr>
      </p:sp>
      <p:sp>
        <p:nvSpPr>
          <p:cNvPr id="27" name="Text 21"/>
          <p:cNvSpPr txBox="1"/>
          <p:nvPr/>
        </p:nvSpPr>
        <p:spPr>
          <a:xfrm>
            <a:off x="1417320" y="4700016"/>
            <a:ext cx="1600200" cy="475488"/>
          </a:xfrm>
          <a:prstGeom prst="rect">
            <a:avLst/>
          </a:prstGeom>
          <a:noFill/>
          <a:ln/>
        </p:spPr>
        <p:txBody>
          <a:bodyPr wrap="square" lIns="0" tIns="0" rIns="0" bIns="0" rtlCol="0" anchor="ctr"/>
          <a:lstStyle/>
          <a:p>
            <a:pPr indent="0" marL="0">
              <a:buNone/>
            </a:pPr>
            <a:r>
              <a:rPr lang="en-US" sz="1800" b="1" dirty="0">
                <a:solidFill>
                  <a:schemeClr val="tx1"/>
                </a:solidFill>
                <a:latin typeface="Inter" pitchFamily="34" charset="0"/>
                <a:ea typeface="Inter" pitchFamily="34" charset="-122"/>
                <a:cs typeface="Inter" pitchFamily="34" charset="-120"/>
              </a:rPr>
              <a:t>Coordinate</a:t>
            </a:r>
            <a:endParaRPr lang="en-US" sz="1800" dirty="0"/>
          </a:p>
        </p:txBody>
      </p:sp>
      <p:sp>
        <p:nvSpPr>
          <p:cNvPr id="28" name="Text 22"/>
          <p:cNvSpPr txBox="1"/>
          <p:nvPr/>
        </p:nvSpPr>
        <p:spPr>
          <a:xfrm>
            <a:off x="3063240" y="4700016"/>
            <a:ext cx="4663440" cy="475488"/>
          </a:xfrm>
          <a:prstGeom prst="rect">
            <a:avLst/>
          </a:prstGeom>
          <a:noFill/>
          <a:ln/>
        </p:spPr>
        <p:txBody>
          <a:bodyPr wrap="square" lIns="0" tIns="0" rIns="0" bIns="0" rtlCol="0" anchor="ctr"/>
          <a:lstStyle/>
          <a:p>
            <a:pPr indent="0" marL="0">
              <a:buNone/>
            </a:pPr>
            <a:r>
              <a:rPr lang="en-US" sz="1400" dirty="0">
                <a:solidFill>
                  <a:schemeClr val="accent3"/>
                </a:solidFill>
                <a:latin typeface="Inter" pitchFamily="34" charset="0"/>
                <a:ea typeface="Inter" pitchFamily="34" charset="-122"/>
                <a:cs typeface="Inter" pitchFamily="34" charset="-120"/>
              </a:rPr>
              <a:t>Calls, visits and follow-ups run through different channels</a:t>
            </a:r>
            <a:endParaRPr lang="en-US" sz="1400" dirty="0"/>
          </a:p>
        </p:txBody>
      </p:sp>
      <p:sp>
        <p:nvSpPr>
          <p:cNvPr id="29" name="Shape 23"/>
          <p:cNvSpPr/>
          <p:nvPr/>
        </p:nvSpPr>
        <p:spPr>
          <a:xfrm>
            <a:off x="685800" y="5449824"/>
            <a:ext cx="512064" cy="512064"/>
          </a:xfrm>
          <a:prstGeom prst="ellipse">
            <a:avLst/>
          </a:prstGeom>
          <a:solidFill>
            <a:schemeClr val="tx2"/>
          </a:solidFill>
          <a:ln/>
        </p:spPr>
      </p:sp>
      <p:pic>
        <p:nvPicPr>
          <p:cNvPr id="30" name="Image 4" descr="/home/claude/work/assets/move_gold.png">    </p:cNvPr>
          <p:cNvPicPr>
            <a:picLocks noChangeAspect="1"/>
          </p:cNvPicPr>
          <p:nvPr/>
        </p:nvPicPr>
        <p:blipFill>
          <a:blip r:embed="rId5"/>
          <a:stretch>
            <a:fillRect/>
          </a:stretch>
        </p:blipFill>
        <p:spPr>
          <a:xfrm>
            <a:off x="824057" y="5588081"/>
            <a:ext cx="235549" cy="235549"/>
          </a:xfrm>
          <a:prstGeom prst="rect">
            <a:avLst/>
          </a:prstGeom>
        </p:spPr>
      </p:pic>
      <p:sp>
        <p:nvSpPr>
          <p:cNvPr id="31" name="Text 24"/>
          <p:cNvSpPr txBox="1"/>
          <p:nvPr/>
        </p:nvSpPr>
        <p:spPr>
          <a:xfrm>
            <a:off x="1417320" y="5468112"/>
            <a:ext cx="1600200" cy="475488"/>
          </a:xfrm>
          <a:prstGeom prst="rect">
            <a:avLst/>
          </a:prstGeom>
          <a:noFill/>
          <a:ln/>
        </p:spPr>
        <p:txBody>
          <a:bodyPr wrap="square" lIns="0" tIns="0" rIns="0" bIns="0" rtlCol="0" anchor="ctr"/>
          <a:lstStyle/>
          <a:p>
            <a:pPr indent="0" marL="0">
              <a:buNone/>
            </a:pPr>
            <a:r>
              <a:rPr lang="en-US" sz="1800" b="1" dirty="0">
                <a:solidFill>
                  <a:schemeClr val="tx1"/>
                </a:solidFill>
                <a:latin typeface="Inter" pitchFamily="34" charset="0"/>
                <a:ea typeface="Inter" pitchFamily="34" charset="-122"/>
                <a:cs typeface="Inter" pitchFamily="34" charset="-120"/>
              </a:rPr>
              <a:t>Move</a:t>
            </a:r>
            <a:endParaRPr lang="en-US" sz="1800" dirty="0"/>
          </a:p>
        </p:txBody>
      </p:sp>
      <p:sp>
        <p:nvSpPr>
          <p:cNvPr id="32" name="Text 25"/>
          <p:cNvSpPr txBox="1"/>
          <p:nvPr/>
        </p:nvSpPr>
        <p:spPr>
          <a:xfrm>
            <a:off x="3063240" y="5468112"/>
            <a:ext cx="4663440" cy="475488"/>
          </a:xfrm>
          <a:prstGeom prst="rect">
            <a:avLst/>
          </a:prstGeom>
          <a:noFill/>
          <a:ln/>
        </p:spPr>
        <p:txBody>
          <a:bodyPr wrap="square" lIns="0" tIns="0" rIns="0" bIns="0" rtlCol="0" anchor="ctr"/>
          <a:lstStyle/>
          <a:p>
            <a:pPr indent="0" marL="0">
              <a:buNone/>
            </a:pPr>
            <a:r>
              <a:rPr lang="en-US" sz="1400" dirty="0">
                <a:solidFill>
                  <a:schemeClr val="accent3"/>
                </a:solidFill>
                <a:latin typeface="Inter" pitchFamily="34" charset="0"/>
                <a:ea typeface="Inter" pitchFamily="34" charset="-122"/>
                <a:cs typeface="Inter" pitchFamily="34" charset="-120"/>
              </a:rPr>
              <a:t>Agreement, deposit and move-in are handled separately again</a:t>
            </a:r>
            <a:endParaRPr lang="en-US" sz="1400" dirty="0"/>
          </a:p>
        </p:txBody>
      </p:sp>
      <p:sp>
        <p:nvSpPr>
          <p:cNvPr id="33" name="Stats card"/>
          <p:cNvSpPr/>
          <p:nvPr/>
        </p:nvSpPr>
        <p:spPr>
          <a:xfrm>
            <a:off x="8229600" y="1554480"/>
            <a:ext cx="3276295" cy="4206240"/>
          </a:xfrm>
          <a:prstGeom prst="roundRect">
            <a:avLst>
              <a:gd name="adj" fmla="val 3349"/>
            </a:avLst>
          </a:prstGeom>
          <a:solidFill>
            <a:schemeClr val="tx2"/>
          </a:solidFill>
          <a:ln/>
        </p:spPr>
      </p:sp>
      <p:sp>
        <p:nvSpPr>
          <p:cNvPr id="34" name="Text 27"/>
          <p:cNvSpPr txBox="1"/>
          <p:nvPr/>
        </p:nvSpPr>
        <p:spPr>
          <a:xfrm>
            <a:off x="8595360" y="1901952"/>
            <a:ext cx="2544775" cy="228600"/>
          </a:xfrm>
          <a:prstGeom prst="rect">
            <a:avLst/>
          </a:prstGeom>
          <a:noFill/>
          <a:ln/>
        </p:spPr>
        <p:txBody>
          <a:bodyPr wrap="square" lIns="0" tIns="0" rIns="0" bIns="0" rtlCol="0" anchor="t"/>
          <a:lstStyle/>
          <a:p>
            <a:pPr indent="0" marL="0">
              <a:buNone/>
            </a:pPr>
            <a:r>
              <a:rPr lang="en-US" sz="1000" b="1" spc="300" kern="0" dirty="0">
                <a:solidFill>
                  <a:schemeClr val="accent1"/>
                </a:solidFill>
                <a:latin typeface="Inter" pitchFamily="34" charset="0"/>
                <a:ea typeface="Inter" pitchFamily="34" charset="-122"/>
                <a:cs typeface="Inter" pitchFamily="34" charset="-120"/>
              </a:rPr>
              <a:t>WHY IT MATTERS</a:t>
            </a:r>
            <a:endParaRPr lang="en-US" sz="1000" dirty="0"/>
          </a:p>
        </p:txBody>
      </p:sp>
      <p:sp>
        <p:nvSpPr>
          <p:cNvPr id="35" name="Text 28"/>
          <p:cNvSpPr txBox="1"/>
          <p:nvPr/>
        </p:nvSpPr>
        <p:spPr>
          <a:xfrm>
            <a:off x="8595360" y="2240280"/>
            <a:ext cx="2544775" cy="685800"/>
          </a:xfrm>
          <a:prstGeom prst="rect">
            <a:avLst/>
          </a:prstGeom>
          <a:noFill/>
          <a:ln/>
        </p:spPr>
        <p:txBody>
          <a:bodyPr wrap="square" lIns="0" tIns="0" rIns="0" bIns="0" rtlCol="0" anchor="ctr"/>
          <a:lstStyle/>
          <a:p>
            <a:pPr indent="0" marL="0">
              <a:buNone/>
            </a:pPr>
            <a:r>
              <a:rPr lang="en-US" sz="4000" b="1" dirty="0">
                <a:solidFill>
                  <a:schemeClr val="accent2"/>
                </a:solidFill>
                <a:latin typeface="Inter" pitchFamily="34" charset="0"/>
                <a:ea typeface="Inter" pitchFamily="34" charset="-122"/>
                <a:cs typeface="Inter" pitchFamily="34" charset="-120"/>
              </a:rPr>
              <a:t>2.17 crore</a:t>
            </a:r>
            <a:endParaRPr lang="en-US" sz="4000" dirty="0"/>
          </a:p>
        </p:txBody>
      </p:sp>
      <p:sp>
        <p:nvSpPr>
          <p:cNvPr id="36" name="Text 29"/>
          <p:cNvSpPr txBox="1"/>
          <p:nvPr/>
        </p:nvSpPr>
        <p:spPr>
          <a:xfrm>
            <a:off x="8595360" y="2944368"/>
            <a:ext cx="2544775" cy="502920"/>
          </a:xfrm>
          <a:prstGeom prst="rect">
            <a:avLst/>
          </a:prstGeom>
          <a:noFill/>
          <a:ln/>
        </p:spPr>
        <p:txBody>
          <a:bodyPr wrap="square" lIns="0" tIns="0" rIns="0" bIns="0" rtlCol="0" anchor="t"/>
          <a:lstStyle/>
          <a:p>
            <a:pPr indent="0" marL="0">
              <a:buNone/>
            </a:pPr>
            <a:r>
              <a:rPr lang="en-US" sz="1400" dirty="0">
                <a:solidFill>
                  <a:schemeClr val="bg2"/>
                </a:solidFill>
                <a:latin typeface="Inter" pitchFamily="34" charset="0"/>
                <a:ea typeface="Inter" pitchFamily="34" charset="-122"/>
                <a:cs typeface="Inter" pitchFamily="34" charset="-120"/>
              </a:rPr>
              <a:t>urban households lived in rented homes</a:t>
            </a:r>
            <a:endParaRPr lang="en-US" sz="1400" dirty="0"/>
          </a:p>
        </p:txBody>
      </p:sp>
      <p:sp>
        <p:nvSpPr>
          <p:cNvPr id="37" name="Text 30"/>
          <p:cNvSpPr txBox="1"/>
          <p:nvPr/>
        </p:nvSpPr>
        <p:spPr>
          <a:xfrm>
            <a:off x="8595360" y="3456432"/>
            <a:ext cx="2544775" cy="201168"/>
          </a:xfrm>
          <a:prstGeom prst="rect">
            <a:avLst/>
          </a:prstGeom>
          <a:noFill/>
          <a:ln/>
        </p:spPr>
        <p:txBody>
          <a:bodyPr wrap="square" lIns="0" tIns="0" rIns="0" bIns="0" rtlCol="0" anchor="t"/>
          <a:lstStyle/>
          <a:p>
            <a:pPr indent="0" marL="0">
              <a:buNone/>
            </a:pPr>
            <a:r>
              <a:rPr lang="en-US" sz="900" dirty="0">
                <a:solidFill>
                  <a:schemeClr val="accent3"/>
                </a:solidFill>
                <a:latin typeface="Inter" pitchFamily="34" charset="0"/>
                <a:ea typeface="Inter" pitchFamily="34" charset="-122"/>
                <a:cs typeface="Inter" pitchFamily="34" charset="-120"/>
              </a:rPr>
              <a:t>India · Census 2011</a:t>
            </a:r>
            <a:endParaRPr lang="en-US" sz="900" dirty="0"/>
          </a:p>
        </p:txBody>
      </p:sp>
      <p:sp>
        <p:nvSpPr>
          <p:cNvPr id="38" name="Shape 31"/>
          <p:cNvSpPr/>
          <p:nvPr/>
        </p:nvSpPr>
        <p:spPr>
          <a:xfrm>
            <a:off x="8595360" y="3858768"/>
            <a:ext cx="2544775" cy="0"/>
          </a:xfrm>
          <a:prstGeom prst="line">
            <a:avLst/>
          </a:prstGeom>
          <a:noFill/>
          <a:ln w="9525">
            <a:solidFill>
              <a:srgbClr val="3A3935"/>
            </a:solidFill>
            <a:prstDash val="solid"/>
          </a:ln>
        </p:spPr>
      </p:sp>
      <p:sp>
        <p:nvSpPr>
          <p:cNvPr id="39" name="Text 32"/>
          <p:cNvSpPr txBox="1"/>
          <p:nvPr/>
        </p:nvSpPr>
        <p:spPr>
          <a:xfrm>
            <a:off x="8595360" y="4069080"/>
            <a:ext cx="2544775" cy="685800"/>
          </a:xfrm>
          <a:prstGeom prst="rect">
            <a:avLst/>
          </a:prstGeom>
          <a:noFill/>
          <a:ln/>
        </p:spPr>
        <p:txBody>
          <a:bodyPr wrap="square" lIns="0" tIns="0" rIns="0" bIns="0" rtlCol="0" anchor="ctr"/>
          <a:lstStyle/>
          <a:p>
            <a:pPr indent="0" marL="0">
              <a:buNone/>
            </a:pPr>
            <a:r>
              <a:rPr lang="en-US" sz="4000" b="1" dirty="0">
                <a:solidFill>
                  <a:schemeClr val="accent2"/>
                </a:solidFill>
                <a:latin typeface="Inter" pitchFamily="34" charset="0"/>
                <a:ea typeface="Inter" pitchFamily="34" charset="-122"/>
                <a:cs typeface="Inter" pitchFamily="34" charset="-120"/>
              </a:rPr>
              <a:t>71%</a:t>
            </a:r>
            <a:endParaRPr lang="en-US" sz="4000" dirty="0"/>
          </a:p>
        </p:txBody>
      </p:sp>
      <p:sp>
        <p:nvSpPr>
          <p:cNvPr id="40" name="Text 33"/>
          <p:cNvSpPr txBox="1"/>
          <p:nvPr/>
        </p:nvSpPr>
        <p:spPr>
          <a:xfrm>
            <a:off x="8595360" y="4773168"/>
            <a:ext cx="2544775" cy="502920"/>
          </a:xfrm>
          <a:prstGeom prst="rect">
            <a:avLst/>
          </a:prstGeom>
          <a:noFill/>
          <a:ln/>
        </p:spPr>
        <p:txBody>
          <a:bodyPr wrap="square" lIns="0" tIns="0" rIns="0" bIns="0" rtlCol="0" anchor="t"/>
          <a:lstStyle/>
          <a:p>
            <a:pPr indent="0" marL="0">
              <a:buNone/>
            </a:pPr>
            <a:r>
              <a:rPr lang="en-US" sz="1400" dirty="0">
                <a:solidFill>
                  <a:schemeClr val="bg2"/>
                </a:solidFill>
                <a:latin typeface="Inter" pitchFamily="34" charset="0"/>
                <a:ea typeface="Inter" pitchFamily="34" charset="-122"/>
                <a:cs typeface="Inter" pitchFamily="34" charset="-120"/>
              </a:rPr>
              <a:t>of renting households had no written rental agreement</a:t>
            </a:r>
            <a:endParaRPr lang="en-US" sz="1400" dirty="0"/>
          </a:p>
        </p:txBody>
      </p:sp>
      <p:sp>
        <p:nvSpPr>
          <p:cNvPr id="41" name="Text 34"/>
          <p:cNvSpPr txBox="1"/>
          <p:nvPr/>
        </p:nvSpPr>
        <p:spPr>
          <a:xfrm>
            <a:off x="8595360" y="5285232"/>
            <a:ext cx="2544775" cy="201168"/>
          </a:xfrm>
          <a:prstGeom prst="rect">
            <a:avLst/>
          </a:prstGeom>
          <a:noFill/>
          <a:ln/>
        </p:spPr>
        <p:txBody>
          <a:bodyPr wrap="square" lIns="0" tIns="0" rIns="0" bIns="0" rtlCol="0" anchor="t"/>
          <a:lstStyle/>
          <a:p>
            <a:pPr indent="0" marL="0">
              <a:buNone/>
            </a:pPr>
            <a:r>
              <a:rPr lang="en-US" sz="900" dirty="0">
                <a:solidFill>
                  <a:schemeClr val="accent3"/>
                </a:solidFill>
                <a:latin typeface="Inter" pitchFamily="34" charset="0"/>
                <a:ea typeface="Inter" pitchFamily="34" charset="-122"/>
                <a:cs typeface="Inter" pitchFamily="34" charset="-120"/>
              </a:rPr>
              <a:t>India · NSSO data</a:t>
            </a:r>
            <a:endParaRPr lang="en-US" sz="900" dirty="0"/>
          </a:p>
        </p:txBody>
      </p:sp>
      <p:sp>
        <p:nvSpPr>
          <p:cNvPr id="42" name="Text 35"/>
          <p:cNvSpPr txBox="1"/>
          <p:nvPr/>
        </p:nvSpPr>
        <p:spPr>
          <a:xfrm>
            <a:off x="8229600" y="5833872"/>
            <a:ext cx="3276295" cy="384048"/>
          </a:xfrm>
          <a:prstGeom prst="rect">
            <a:avLst/>
          </a:prstGeom>
          <a:noFill/>
          <a:ln/>
        </p:spPr>
        <p:txBody>
          <a:bodyPr wrap="square" lIns="0" tIns="0" rIns="0" bIns="0" rtlCol="0" anchor="t"/>
          <a:lstStyle/>
          <a:p>
            <a:pPr indent="0" marL="0">
              <a:buNone/>
            </a:pPr>
            <a:r>
              <a:rPr lang="en-US" sz="800" dirty="0">
                <a:solidFill>
                  <a:schemeClr val="accent3"/>
                </a:solidFill>
                <a:latin typeface="Inter" pitchFamily="34" charset="0"/>
                <a:ea typeface="Inter" pitchFamily="34" charset="-122"/>
                <a:cs typeface="Inter" pitchFamily="34" charset="-120"/>
              </a:rPr>
              <a:t>Both figures as cited in Knight Frank &amp; Khaitan &amp; Co., “Institutionalising the Rental Housing Market in India” (2019). National figures, not Jaipur-specific.</a:t>
            </a:r>
            <a:endParaRPr lang="en-US" sz="800" dirty="0"/>
          </a:p>
        </p:txBody>
      </p:sp>
      <p:sp>
        <p:nvSpPr>
          <p:cNvPr id="25" name="Slide Number Placeholder 0"/>
          <p:cNvSpPr>
            <a:spLocks noGrp="1"/>
          </p:cNvSpPr>
          <p:nvPr>
            <p:ph type="sldNum" sz="quarter" idx="4294967295"/>
          </p:nvPr>
        </p:nvSpPr>
        <p:spPr>
          <a:xfrm>
            <a:off x="10957255" y="6355080"/>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685800" y="438912"/>
            <a:ext cx="82296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WHO WE SERVE FIRST</a:t>
            </a:r>
            <a:endParaRPr lang="en-US" sz="1100" dirty="0"/>
          </a:p>
        </p:txBody>
      </p:sp>
      <p:sp>
        <p:nvSpPr>
          <p:cNvPr id="3" name="Text 1"/>
          <p:cNvSpPr/>
          <p:nvPr>
            <p:ph idx="103" type="title" hasCustomPrompt="1"/>
          </p:nvPr>
        </p:nvSpPr>
        <p:spPr>
          <a:xfrm>
            <a:off x="685800" y="749808"/>
            <a:ext cx="10820095" cy="731520"/>
          </a:xfrm>
          <a:prstGeom prst="rect">
            <a:avLst/>
          </a:prstGeom>
          <a:noFill/>
          <a:ln/>
        </p:spPr>
        <p:txBody>
          <a:bodyPr wrap="square" lIns="0" tIns="0" rIns="0" bIns="0" rtlCol="0" anchor="t"/>
          <a:lstStyle/>
          <a:p>
            <a:pPr algn="l" indent="0" marL="0">
              <a:buNone/>
            </a:pPr>
            <a:r>
              <a:rPr lang="en-US" sz="3000" b="1" dirty="0">
                <a:solidFill>
                  <a:schemeClr val="tx1"/>
                </a:solidFill>
                <a:latin typeface="Inter" pitchFamily="34" charset="0"/>
                <a:ea typeface="Inter" pitchFamily="34" charset="-122"/>
                <a:cs typeface="Inter" pitchFamily="34" charset="-120"/>
              </a:rPr>
              <a:t>Built around the people who need a place to belong</a:t>
            </a:r>
            <a:endParaRPr lang="en-US" sz="3000" dirty="0"/>
          </a:p>
        </p:txBody>
      </p:sp>
      <p:sp>
        <p:nvSpPr>
          <p:cNvPr id="4" name="Students card"/>
          <p:cNvSpPr/>
          <p:nvPr/>
        </p:nvSpPr>
        <p:spPr>
          <a:xfrm>
            <a:off x="685800" y="1627632"/>
            <a:ext cx="5272888" cy="3246120"/>
          </a:xfrm>
          <a:prstGeom prst="rect">
            <a:avLst/>
          </a:prstGeom>
          <a:solidFill>
            <a:schemeClr val="bg1"/>
          </a:solidFill>
          <a:ln w="9525">
            <a:solidFill>
              <a:schemeClr val="accent4"/>
            </a:solidFill>
            <a:prstDash val="solid"/>
          </a:ln>
        </p:spPr>
      </p:sp>
      <p:pic>
        <p:nvPicPr>
          <p:cNvPr id="5" name="Image 0" descr="Illustrative interior photo">    </p:cNvPr>
          <p:cNvPicPr>
            <a:picLocks noChangeAspect="1"/>
          </p:cNvPicPr>
          <p:nvPr/>
        </p:nvPicPr>
        <p:blipFill>
          <a:blip r:embed="rId1"/>
          <a:stretch>
            <a:fillRect/>
          </a:stretch>
        </p:blipFill>
        <p:spPr>
          <a:xfrm>
            <a:off x="685800" y="1627632"/>
            <a:ext cx="5272888" cy="1417320"/>
          </a:xfrm>
          <a:prstGeom prst="rect">
            <a:avLst/>
          </a:prstGeom>
        </p:spPr>
      </p:pic>
      <p:sp>
        <p:nvSpPr>
          <p:cNvPr id="6" name="Shape 3"/>
          <p:cNvSpPr/>
          <p:nvPr/>
        </p:nvSpPr>
        <p:spPr>
          <a:xfrm>
            <a:off x="822960" y="2679192"/>
            <a:ext cx="1143000" cy="237744"/>
          </a:xfrm>
          <a:prstGeom prst="roundRect">
            <a:avLst>
              <a:gd name="adj" fmla="val 50000"/>
            </a:avLst>
          </a:prstGeom>
          <a:solidFill>
            <a:schemeClr val="tx2">
              <a:alpha val="80000"/>
            </a:schemeClr>
          </a:solidFill>
          <a:ln/>
        </p:spPr>
      </p:sp>
      <p:sp>
        <p:nvSpPr>
          <p:cNvPr id="7" name="Text 4"/>
          <p:cNvSpPr txBox="1"/>
          <p:nvPr/>
        </p:nvSpPr>
        <p:spPr>
          <a:xfrm>
            <a:off x="822960" y="2679192"/>
            <a:ext cx="1143000" cy="237744"/>
          </a:xfrm>
          <a:prstGeom prst="rect">
            <a:avLst/>
          </a:prstGeom>
          <a:noFill/>
          <a:ln/>
        </p:spPr>
        <p:txBody>
          <a:bodyPr wrap="square" lIns="0" tIns="0" rIns="0" bIns="0" rtlCol="0" anchor="ctr"/>
          <a:lstStyle/>
          <a:p>
            <a:pPr algn="ctr" indent="0" marL="0">
              <a:buNone/>
            </a:pPr>
            <a:r>
              <a:rPr lang="en-US" sz="800" dirty="0">
                <a:solidFill>
                  <a:schemeClr val="bg1"/>
                </a:solidFill>
                <a:latin typeface="Inter" pitchFamily="34" charset="0"/>
                <a:ea typeface="Inter" pitchFamily="34" charset="-122"/>
                <a:cs typeface="Inter" pitchFamily="34" charset="-120"/>
              </a:rPr>
              <a:t>Illustrative photo</a:t>
            </a:r>
            <a:endParaRPr lang="en-US" sz="800" dirty="0"/>
          </a:p>
        </p:txBody>
      </p:sp>
      <p:pic>
        <p:nvPicPr>
          <p:cNvPr id="8" name="Image 1" descr="/home/claude/work/assets/student_gold.png">    </p:cNvPr>
          <p:cNvPicPr>
            <a:picLocks noChangeAspect="1"/>
          </p:cNvPicPr>
          <p:nvPr/>
        </p:nvPicPr>
        <p:blipFill>
          <a:blip r:embed="rId2"/>
          <a:stretch>
            <a:fillRect/>
          </a:stretch>
        </p:blipFill>
        <p:spPr>
          <a:xfrm>
            <a:off x="960120" y="3273552"/>
            <a:ext cx="329184" cy="329184"/>
          </a:xfrm>
          <a:prstGeom prst="rect">
            <a:avLst/>
          </a:prstGeom>
        </p:spPr>
      </p:pic>
      <p:sp>
        <p:nvSpPr>
          <p:cNvPr id="9" name="Text 5"/>
          <p:cNvSpPr txBox="1"/>
          <p:nvPr/>
        </p:nvSpPr>
        <p:spPr>
          <a:xfrm>
            <a:off x="1399032" y="3246120"/>
            <a:ext cx="4358488" cy="384048"/>
          </a:xfrm>
          <a:prstGeom prst="rect">
            <a:avLst/>
          </a:prstGeom>
          <a:noFill/>
          <a:ln/>
        </p:spPr>
        <p:txBody>
          <a:bodyPr wrap="square" lIns="0" tIns="0" rIns="0" bIns="0" rtlCol="0" anchor="ctr"/>
          <a:lstStyle/>
          <a:p>
            <a:pPr indent="0" marL="0">
              <a:buNone/>
            </a:pPr>
            <a:r>
              <a:rPr lang="en-US" sz="2000" b="1" dirty="0">
                <a:solidFill>
                  <a:schemeClr val="tx1"/>
                </a:solidFill>
                <a:latin typeface="Inter" pitchFamily="34" charset="0"/>
                <a:ea typeface="Inter" pitchFamily="34" charset="-122"/>
                <a:cs typeface="Inter" pitchFamily="34" charset="-120"/>
              </a:rPr>
              <a:t>Students</a:t>
            </a:r>
            <a:endParaRPr lang="en-US" sz="2000" dirty="0"/>
          </a:p>
        </p:txBody>
      </p:sp>
      <p:sp>
        <p:nvSpPr>
          <p:cNvPr id="10" name="Text 6"/>
          <p:cNvSpPr txBox="1"/>
          <p:nvPr/>
        </p:nvSpPr>
        <p:spPr>
          <a:xfrm>
            <a:off x="960120" y="3685032"/>
            <a:ext cx="4724248" cy="777240"/>
          </a:xfrm>
          <a:prstGeom prst="rect">
            <a:avLst/>
          </a:prstGeom>
          <a:noFill/>
          <a:ln/>
        </p:spPr>
        <p:txBody>
          <a:bodyPr wrap="square" lIns="0" tIns="0" rIns="0" bIns="0" rtlCol="0" anchor="t"/>
          <a:lstStyle/>
          <a:p>
            <a:pPr indent="0" marL="0">
              <a:buNone/>
            </a:pPr>
            <a:r>
              <a:rPr lang="en-US" sz="1400" dirty="0">
                <a:solidFill>
                  <a:schemeClr val="accent3"/>
                </a:solidFill>
                <a:latin typeface="Inter" pitchFamily="34" charset="0"/>
                <a:ea typeface="Inter" pitchFamily="34" charset="-122"/>
                <a:cs typeface="Inter" pitchFamily="34" charset="-120"/>
              </a:rPr>
              <a:t>Looking for a room or flat near a college or university, balancing distance, budget, room type and everyday convenience.</a:t>
            </a:r>
            <a:endParaRPr lang="en-US" sz="1400" dirty="0"/>
          </a:p>
        </p:txBody>
      </p:sp>
      <p:sp>
        <p:nvSpPr>
          <p:cNvPr id="11" name="Text 7"/>
          <p:cNvSpPr txBox="1"/>
          <p:nvPr/>
        </p:nvSpPr>
        <p:spPr>
          <a:xfrm>
            <a:off x="960120" y="4544568"/>
            <a:ext cx="4724248" cy="201168"/>
          </a:xfrm>
          <a:prstGeom prst="rect">
            <a:avLst/>
          </a:prstGeom>
          <a:noFill/>
          <a:ln/>
        </p:spPr>
        <p:txBody>
          <a:bodyPr wrap="square" lIns="0" tIns="0" rIns="0" bIns="0" rtlCol="0" anchor="t"/>
          <a:lstStyle/>
          <a:p>
            <a:pPr indent="0" marL="0">
              <a:buNone/>
            </a:pPr>
            <a:r>
              <a:rPr lang="en-US" sz="950" b="1" spc="200" kern="0" dirty="0">
                <a:solidFill>
                  <a:schemeClr val="accent1"/>
                </a:solidFill>
                <a:latin typeface="Inter" pitchFamily="34" charset="0"/>
                <a:ea typeface="Inter" pitchFamily="34" charset="-122"/>
                <a:cs typeface="Inter" pitchFamily="34" charset="-120"/>
              </a:rPr>
              <a:t>SEARCH ANCHOR · CAMPUS</a:t>
            </a:r>
            <a:endParaRPr lang="en-US" sz="950" dirty="0"/>
          </a:p>
        </p:txBody>
      </p:sp>
      <p:sp>
        <p:nvSpPr>
          <p:cNvPr id="12" name="Working professionals card"/>
          <p:cNvSpPr/>
          <p:nvPr/>
        </p:nvSpPr>
        <p:spPr>
          <a:xfrm>
            <a:off x="6233008" y="1627632"/>
            <a:ext cx="5272888" cy="3246120"/>
          </a:xfrm>
          <a:prstGeom prst="rect">
            <a:avLst/>
          </a:prstGeom>
          <a:solidFill>
            <a:schemeClr val="bg1"/>
          </a:solidFill>
          <a:ln w="9525">
            <a:solidFill>
              <a:schemeClr val="accent4"/>
            </a:solidFill>
            <a:prstDash val="solid"/>
          </a:ln>
        </p:spPr>
      </p:sp>
      <p:pic>
        <p:nvPicPr>
          <p:cNvPr id="13" name="Image 2" descr="Illustrative interior photo">    </p:cNvPr>
          <p:cNvPicPr>
            <a:picLocks noChangeAspect="1"/>
          </p:cNvPicPr>
          <p:nvPr/>
        </p:nvPicPr>
        <p:blipFill>
          <a:blip r:embed="rId3"/>
          <a:stretch>
            <a:fillRect/>
          </a:stretch>
        </p:blipFill>
        <p:spPr>
          <a:xfrm>
            <a:off x="6233008" y="1627632"/>
            <a:ext cx="5272888" cy="1417320"/>
          </a:xfrm>
          <a:prstGeom prst="rect">
            <a:avLst/>
          </a:prstGeom>
        </p:spPr>
      </p:pic>
      <p:sp>
        <p:nvSpPr>
          <p:cNvPr id="14" name="Shape 9"/>
          <p:cNvSpPr/>
          <p:nvPr/>
        </p:nvSpPr>
        <p:spPr>
          <a:xfrm>
            <a:off x="6370168" y="2679192"/>
            <a:ext cx="1143000" cy="237744"/>
          </a:xfrm>
          <a:prstGeom prst="roundRect">
            <a:avLst>
              <a:gd name="adj" fmla="val 50000"/>
            </a:avLst>
          </a:prstGeom>
          <a:solidFill>
            <a:schemeClr val="tx2">
              <a:alpha val="80000"/>
            </a:schemeClr>
          </a:solidFill>
          <a:ln/>
        </p:spPr>
      </p:sp>
      <p:sp>
        <p:nvSpPr>
          <p:cNvPr id="15" name="Text 10"/>
          <p:cNvSpPr txBox="1"/>
          <p:nvPr/>
        </p:nvSpPr>
        <p:spPr>
          <a:xfrm>
            <a:off x="6370168" y="2679192"/>
            <a:ext cx="1143000" cy="237744"/>
          </a:xfrm>
          <a:prstGeom prst="rect">
            <a:avLst/>
          </a:prstGeom>
          <a:noFill/>
          <a:ln/>
        </p:spPr>
        <p:txBody>
          <a:bodyPr wrap="square" lIns="0" tIns="0" rIns="0" bIns="0" rtlCol="0" anchor="ctr"/>
          <a:lstStyle/>
          <a:p>
            <a:pPr algn="ctr" indent="0" marL="0">
              <a:buNone/>
            </a:pPr>
            <a:r>
              <a:rPr lang="en-US" sz="800" dirty="0">
                <a:solidFill>
                  <a:schemeClr val="bg1"/>
                </a:solidFill>
                <a:latin typeface="Inter" pitchFamily="34" charset="0"/>
                <a:ea typeface="Inter" pitchFamily="34" charset="-122"/>
                <a:cs typeface="Inter" pitchFamily="34" charset="-120"/>
              </a:rPr>
              <a:t>Illustrative photo</a:t>
            </a:r>
            <a:endParaRPr lang="en-US" sz="800" dirty="0"/>
          </a:p>
        </p:txBody>
      </p:sp>
      <p:pic>
        <p:nvPicPr>
          <p:cNvPr id="16" name="Image 3" descr="/home/claude/work/assets/pro_gold.png">    </p:cNvPr>
          <p:cNvPicPr>
            <a:picLocks noChangeAspect="1"/>
          </p:cNvPicPr>
          <p:nvPr/>
        </p:nvPicPr>
        <p:blipFill>
          <a:blip r:embed="rId4"/>
          <a:stretch>
            <a:fillRect/>
          </a:stretch>
        </p:blipFill>
        <p:spPr>
          <a:xfrm>
            <a:off x="6507328" y="3273552"/>
            <a:ext cx="329184" cy="329184"/>
          </a:xfrm>
          <a:prstGeom prst="rect">
            <a:avLst/>
          </a:prstGeom>
        </p:spPr>
      </p:pic>
      <p:sp>
        <p:nvSpPr>
          <p:cNvPr id="17" name="Text 11"/>
          <p:cNvSpPr txBox="1"/>
          <p:nvPr/>
        </p:nvSpPr>
        <p:spPr>
          <a:xfrm>
            <a:off x="6946240" y="3246120"/>
            <a:ext cx="4358488" cy="384048"/>
          </a:xfrm>
          <a:prstGeom prst="rect">
            <a:avLst/>
          </a:prstGeom>
          <a:noFill/>
          <a:ln/>
        </p:spPr>
        <p:txBody>
          <a:bodyPr wrap="square" lIns="0" tIns="0" rIns="0" bIns="0" rtlCol="0" anchor="ctr"/>
          <a:lstStyle/>
          <a:p>
            <a:pPr indent="0" marL="0">
              <a:buNone/>
            </a:pPr>
            <a:r>
              <a:rPr lang="en-US" sz="2000" b="1" dirty="0">
                <a:solidFill>
                  <a:schemeClr val="tx1"/>
                </a:solidFill>
                <a:latin typeface="Inter" pitchFamily="34" charset="0"/>
                <a:ea typeface="Inter" pitchFamily="34" charset="-122"/>
                <a:cs typeface="Inter" pitchFamily="34" charset="-120"/>
              </a:rPr>
              <a:t>Working professionals</a:t>
            </a:r>
            <a:endParaRPr lang="en-US" sz="2000" dirty="0"/>
          </a:p>
        </p:txBody>
      </p:sp>
      <p:sp>
        <p:nvSpPr>
          <p:cNvPr id="18" name="Text 12"/>
          <p:cNvSpPr txBox="1"/>
          <p:nvPr/>
        </p:nvSpPr>
        <p:spPr>
          <a:xfrm>
            <a:off x="6507328" y="3685032"/>
            <a:ext cx="4724248" cy="777240"/>
          </a:xfrm>
          <a:prstGeom prst="rect">
            <a:avLst/>
          </a:prstGeom>
          <a:noFill/>
          <a:ln/>
        </p:spPr>
        <p:txBody>
          <a:bodyPr wrap="square" lIns="0" tIns="0" rIns="0" bIns="0" rtlCol="0" anchor="t"/>
          <a:lstStyle/>
          <a:p>
            <a:pPr indent="0" marL="0">
              <a:buNone/>
            </a:pPr>
            <a:r>
              <a:rPr lang="en-US" sz="1400" dirty="0">
                <a:solidFill>
                  <a:schemeClr val="accent3"/>
                </a:solidFill>
                <a:latin typeface="Inter" pitchFamily="34" charset="0"/>
                <a:ea typeface="Inter" pitchFamily="34" charset="-122"/>
                <a:cs typeface="Inter" pitchFamily="34" charset="-120"/>
              </a:rPr>
              <a:t>Looking for a home within practical reach of the workplace, balancing location, budget and living requirements.</a:t>
            </a:r>
            <a:endParaRPr lang="en-US" sz="1400" dirty="0"/>
          </a:p>
        </p:txBody>
      </p:sp>
      <p:sp>
        <p:nvSpPr>
          <p:cNvPr id="19" name="Text 13"/>
          <p:cNvSpPr txBox="1"/>
          <p:nvPr/>
        </p:nvSpPr>
        <p:spPr>
          <a:xfrm>
            <a:off x="6507328" y="4544568"/>
            <a:ext cx="4724248" cy="201168"/>
          </a:xfrm>
          <a:prstGeom prst="rect">
            <a:avLst/>
          </a:prstGeom>
          <a:noFill/>
          <a:ln/>
        </p:spPr>
        <p:txBody>
          <a:bodyPr wrap="square" lIns="0" tIns="0" rIns="0" bIns="0" rtlCol="0" anchor="t"/>
          <a:lstStyle/>
          <a:p>
            <a:pPr indent="0" marL="0">
              <a:buNone/>
            </a:pPr>
            <a:r>
              <a:rPr lang="en-US" sz="950" b="1" spc="200" kern="0" dirty="0">
                <a:solidFill>
                  <a:schemeClr val="accent1"/>
                </a:solidFill>
                <a:latin typeface="Inter" pitchFamily="34" charset="0"/>
                <a:ea typeface="Inter" pitchFamily="34" charset="-122"/>
                <a:cs typeface="Inter" pitchFamily="34" charset="-120"/>
              </a:rPr>
              <a:t>SEARCH ANCHOR · WORKPLACE</a:t>
            </a:r>
            <a:endParaRPr lang="en-US" sz="950" dirty="0"/>
          </a:p>
        </p:txBody>
      </p:sp>
      <p:sp>
        <p:nvSpPr>
          <p:cNvPr id="20" name="Text 14"/>
          <p:cNvSpPr txBox="1"/>
          <p:nvPr/>
        </p:nvSpPr>
        <p:spPr>
          <a:xfrm>
            <a:off x="685800" y="5074920"/>
            <a:ext cx="1463040" cy="274320"/>
          </a:xfrm>
          <a:prstGeom prst="rect">
            <a:avLst/>
          </a:prstGeom>
          <a:noFill/>
          <a:ln/>
        </p:spPr>
        <p:txBody>
          <a:bodyPr wrap="square" lIns="0" tIns="0" rIns="0" bIns="0" rtlCol="0" anchor="ctr"/>
          <a:lstStyle/>
          <a:p>
            <a:pPr indent="0" marL="0">
              <a:buNone/>
            </a:pPr>
            <a:r>
              <a:rPr lang="en-US" sz="1000" b="1" spc="250" kern="0" dirty="0">
                <a:solidFill>
                  <a:schemeClr val="tx1"/>
                </a:solidFill>
                <a:latin typeface="Inter" pitchFamily="34" charset="0"/>
                <a:ea typeface="Inter" pitchFamily="34" charset="-122"/>
                <a:cs typeface="Inter" pitchFamily="34" charset="-120"/>
              </a:rPr>
              <a:t>SHARED NEEDS</a:t>
            </a:r>
            <a:endParaRPr lang="en-US" sz="1000" dirty="0"/>
          </a:p>
        </p:txBody>
      </p:sp>
      <p:sp>
        <p:nvSpPr>
          <p:cNvPr id="21" name="Shape 15"/>
          <p:cNvSpPr/>
          <p:nvPr/>
        </p:nvSpPr>
        <p:spPr>
          <a:xfrm>
            <a:off x="2194560" y="5056632"/>
            <a:ext cx="1252728" cy="310896"/>
          </a:xfrm>
          <a:prstGeom prst="roundRect">
            <a:avLst>
              <a:gd name="adj" fmla="val 50000"/>
            </a:avLst>
          </a:prstGeom>
          <a:solidFill>
            <a:schemeClr val="bg1"/>
          </a:solidFill>
          <a:ln w="9525">
            <a:solidFill>
              <a:schemeClr val="accent1"/>
            </a:solidFill>
            <a:prstDash val="solid"/>
          </a:ln>
        </p:spPr>
      </p:sp>
      <p:sp>
        <p:nvSpPr>
          <p:cNvPr id="22" name="Text 16"/>
          <p:cNvSpPr txBox="1"/>
          <p:nvPr/>
        </p:nvSpPr>
        <p:spPr>
          <a:xfrm>
            <a:off x="2194560" y="5056632"/>
            <a:ext cx="1252728" cy="310896"/>
          </a:xfrm>
          <a:prstGeom prst="rect">
            <a:avLst/>
          </a:prstGeom>
          <a:noFill/>
          <a:ln/>
        </p:spPr>
        <p:txBody>
          <a:bodyPr wrap="square" lIns="0" tIns="0" rIns="0" bIns="0" rtlCol="0" anchor="ctr"/>
          <a:lstStyle/>
          <a:p>
            <a:pPr algn="ctr" indent="0" marL="0">
              <a:buNone/>
            </a:pPr>
            <a:r>
              <a:rPr lang="en-US" sz="1200" dirty="0">
                <a:solidFill>
                  <a:schemeClr val="tx1"/>
                </a:solidFill>
                <a:latin typeface="Inter" pitchFamily="34" charset="0"/>
                <a:ea typeface="Inter" pitchFamily="34" charset="-122"/>
                <a:cs typeface="Inter" pitchFamily="34" charset="-120"/>
              </a:rPr>
              <a:t>Location fit</a:t>
            </a:r>
            <a:endParaRPr lang="en-US" sz="1200" dirty="0"/>
          </a:p>
        </p:txBody>
      </p:sp>
      <p:sp>
        <p:nvSpPr>
          <p:cNvPr id="23" name="Shape 17"/>
          <p:cNvSpPr/>
          <p:nvPr/>
        </p:nvSpPr>
        <p:spPr>
          <a:xfrm>
            <a:off x="3584448" y="5056632"/>
            <a:ext cx="1097280" cy="310896"/>
          </a:xfrm>
          <a:prstGeom prst="roundRect">
            <a:avLst>
              <a:gd name="adj" fmla="val 50000"/>
            </a:avLst>
          </a:prstGeom>
          <a:solidFill>
            <a:schemeClr val="bg1"/>
          </a:solidFill>
          <a:ln w="9525">
            <a:solidFill>
              <a:schemeClr val="accent1"/>
            </a:solidFill>
            <a:prstDash val="solid"/>
          </a:ln>
        </p:spPr>
      </p:sp>
      <p:sp>
        <p:nvSpPr>
          <p:cNvPr id="24" name="Text 18"/>
          <p:cNvSpPr txBox="1"/>
          <p:nvPr/>
        </p:nvSpPr>
        <p:spPr>
          <a:xfrm>
            <a:off x="3584448" y="5056632"/>
            <a:ext cx="1097280" cy="310896"/>
          </a:xfrm>
          <a:prstGeom prst="rect">
            <a:avLst/>
          </a:prstGeom>
          <a:noFill/>
          <a:ln/>
        </p:spPr>
        <p:txBody>
          <a:bodyPr wrap="square" lIns="0" tIns="0" rIns="0" bIns="0" rtlCol="0" anchor="ctr"/>
          <a:lstStyle/>
          <a:p>
            <a:pPr algn="ctr" indent="0" marL="0">
              <a:buNone/>
            </a:pPr>
            <a:r>
              <a:rPr lang="en-US" sz="1200" dirty="0">
                <a:solidFill>
                  <a:schemeClr val="tx1"/>
                </a:solidFill>
                <a:latin typeface="Inter" pitchFamily="34" charset="0"/>
                <a:ea typeface="Inter" pitchFamily="34" charset="-122"/>
                <a:cs typeface="Inter" pitchFamily="34" charset="-120"/>
              </a:rPr>
              <a:t>Budget fit</a:t>
            </a:r>
            <a:endParaRPr lang="en-US" sz="1200" dirty="0"/>
          </a:p>
        </p:txBody>
      </p:sp>
      <p:sp>
        <p:nvSpPr>
          <p:cNvPr id="25" name="Shape 19"/>
          <p:cNvSpPr/>
          <p:nvPr/>
        </p:nvSpPr>
        <p:spPr>
          <a:xfrm>
            <a:off x="4818888" y="5056632"/>
            <a:ext cx="2418588" cy="310896"/>
          </a:xfrm>
          <a:prstGeom prst="roundRect">
            <a:avLst>
              <a:gd name="adj" fmla="val 50000"/>
            </a:avLst>
          </a:prstGeom>
          <a:solidFill>
            <a:schemeClr val="bg1"/>
          </a:solidFill>
          <a:ln w="9525">
            <a:solidFill>
              <a:schemeClr val="accent1"/>
            </a:solidFill>
            <a:prstDash val="solid"/>
          </a:ln>
        </p:spPr>
      </p:sp>
      <p:sp>
        <p:nvSpPr>
          <p:cNvPr id="26" name="Text 20"/>
          <p:cNvSpPr txBox="1"/>
          <p:nvPr/>
        </p:nvSpPr>
        <p:spPr>
          <a:xfrm>
            <a:off x="4818888" y="5056632"/>
            <a:ext cx="2418588" cy="310896"/>
          </a:xfrm>
          <a:prstGeom prst="rect">
            <a:avLst/>
          </a:prstGeom>
          <a:noFill/>
          <a:ln/>
        </p:spPr>
        <p:txBody>
          <a:bodyPr wrap="square" lIns="0" tIns="0" rIns="0" bIns="0" rtlCol="0" anchor="ctr"/>
          <a:lstStyle/>
          <a:p>
            <a:pPr algn="ctr" indent="0" marL="0">
              <a:buNone/>
            </a:pPr>
            <a:r>
              <a:rPr lang="en-US" sz="1200" dirty="0">
                <a:solidFill>
                  <a:schemeClr val="tx1"/>
                </a:solidFill>
                <a:latin typeface="Inter" pitchFamily="34" charset="0"/>
                <a:ea typeface="Inter" pitchFamily="34" charset="-122"/>
                <a:cs typeface="Inter" pitchFamily="34" charset="-120"/>
              </a:rPr>
              <a:t>Suitable living preferences</a:t>
            </a:r>
            <a:endParaRPr lang="en-US" sz="1200" dirty="0"/>
          </a:p>
        </p:txBody>
      </p:sp>
      <p:sp>
        <p:nvSpPr>
          <p:cNvPr id="27" name="Shape 21"/>
          <p:cNvSpPr/>
          <p:nvPr/>
        </p:nvSpPr>
        <p:spPr>
          <a:xfrm>
            <a:off x="7374636" y="5056632"/>
            <a:ext cx="2263140" cy="310896"/>
          </a:xfrm>
          <a:prstGeom prst="roundRect">
            <a:avLst>
              <a:gd name="adj" fmla="val 50000"/>
            </a:avLst>
          </a:prstGeom>
          <a:solidFill>
            <a:schemeClr val="bg1"/>
          </a:solidFill>
          <a:ln w="9525">
            <a:solidFill>
              <a:schemeClr val="accent1"/>
            </a:solidFill>
            <a:prstDash val="solid"/>
          </a:ln>
        </p:spPr>
      </p:sp>
      <p:sp>
        <p:nvSpPr>
          <p:cNvPr id="28" name="Text 22"/>
          <p:cNvSpPr txBox="1"/>
          <p:nvPr/>
        </p:nvSpPr>
        <p:spPr>
          <a:xfrm>
            <a:off x="7374636" y="5056632"/>
            <a:ext cx="2263140" cy="310896"/>
          </a:xfrm>
          <a:prstGeom prst="rect">
            <a:avLst/>
          </a:prstGeom>
          <a:noFill/>
          <a:ln/>
        </p:spPr>
        <p:txBody>
          <a:bodyPr wrap="square" lIns="0" tIns="0" rIns="0" bIns="0" rtlCol="0" anchor="ctr"/>
          <a:lstStyle/>
          <a:p>
            <a:pPr algn="ctr" indent="0" marL="0">
              <a:buNone/>
            </a:pPr>
            <a:r>
              <a:rPr lang="en-US" sz="1200" dirty="0">
                <a:solidFill>
                  <a:schemeClr val="tx1"/>
                </a:solidFill>
                <a:latin typeface="Inter" pitchFamily="34" charset="0"/>
                <a:ea typeface="Inter" pitchFamily="34" charset="-122"/>
                <a:cs typeface="Inter" pitchFamily="34" charset="-120"/>
              </a:rPr>
              <a:t>Confidence in the listing</a:t>
            </a:r>
            <a:endParaRPr lang="en-US" sz="1200" dirty="0"/>
          </a:p>
        </p:txBody>
      </p:sp>
      <p:sp>
        <p:nvSpPr>
          <p:cNvPr id="29" name="Text 23"/>
          <p:cNvSpPr txBox="1"/>
          <p:nvPr/>
        </p:nvSpPr>
        <p:spPr>
          <a:xfrm>
            <a:off x="685800" y="5605272"/>
            <a:ext cx="10820095" cy="457200"/>
          </a:xfrm>
          <a:prstGeom prst="rect">
            <a:avLst/>
          </a:prstGeom>
          <a:noFill/>
          <a:ln/>
        </p:spPr>
        <p:txBody>
          <a:bodyPr wrap="square" lIns="0" tIns="0" rIns="0" bIns="0" rtlCol="0" anchor="t"/>
          <a:lstStyle/>
          <a:p>
            <a:pPr indent="0" marL="0">
              <a:buNone/>
            </a:pPr>
            <a:r>
              <a:rPr lang="en-US" sz="1300" b="1" dirty="0">
                <a:solidFill>
                  <a:schemeClr val="tx1"/>
                </a:solidFill>
                <a:latin typeface="Inter" pitchFamily="34" charset="0"/>
                <a:ea typeface="Inter" pitchFamily="34" charset="-122"/>
                <a:cs typeface="Inter" pitchFamily="34" charset="-120"/>
              </a:rPr>
              <a:t>Proposed starting point: </a:t>
            </a:r>
            <a:pPr indent="0" marL="0">
              <a:buNone/>
            </a:pPr>
            <a:r>
              <a:rPr lang="en-US" sz="1300" dirty="0">
                <a:solidFill>
                  <a:schemeClr val="accent3"/>
                </a:solidFill>
                <a:latin typeface="Inter" pitchFamily="34" charset="0"/>
                <a:ea typeface="Inter" pitchFamily="34" charset="-122"/>
                <a:cs typeface="Inter" pitchFamily="34" charset="-120"/>
              </a:rPr>
              <a:t>focused rental discovery around selected Jaipur college and office clusters. A launch strategy to test, not a proven demand result.</a:t>
            </a:r>
            <a:endParaRPr lang="en-US" sz="1300" dirty="0"/>
          </a:p>
        </p:txBody>
      </p:sp>
      <p:sp>
        <p:nvSpPr>
          <p:cNvPr id="25" name="Slide Number Placeholder 0"/>
          <p:cNvSpPr>
            <a:spLocks noGrp="1"/>
          </p:cNvSpPr>
          <p:nvPr>
            <p:ph type="sldNum" sz="quarter" idx="4294967295"/>
          </p:nvPr>
        </p:nvSpPr>
        <p:spPr>
          <a:xfrm>
            <a:off x="10957255" y="6355080"/>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685800" y="438912"/>
            <a:ext cx="82296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THE SOLUTION</a:t>
            </a:r>
            <a:endParaRPr lang="en-US" sz="1100" dirty="0"/>
          </a:p>
        </p:txBody>
      </p:sp>
      <p:sp>
        <p:nvSpPr>
          <p:cNvPr id="3" name="Text 1"/>
          <p:cNvSpPr/>
          <p:nvPr>
            <p:ph idx="103" type="title" hasCustomPrompt="1"/>
          </p:nvPr>
        </p:nvSpPr>
        <p:spPr>
          <a:xfrm>
            <a:off x="685800" y="749808"/>
            <a:ext cx="10820095" cy="731520"/>
          </a:xfrm>
          <a:prstGeom prst="rect">
            <a:avLst/>
          </a:prstGeom>
          <a:noFill/>
          <a:ln/>
        </p:spPr>
        <p:txBody>
          <a:bodyPr wrap="square" lIns="0" tIns="0" rIns="0" bIns="0" rtlCol="0" anchor="t"/>
          <a:lstStyle/>
          <a:p>
            <a:pPr algn="l" indent="0" marL="0">
              <a:buNone/>
            </a:pPr>
            <a:r>
              <a:rPr lang="en-US" sz="3000" b="1" dirty="0">
                <a:solidFill>
                  <a:schemeClr val="tx1"/>
                </a:solidFill>
                <a:latin typeface="Inter" pitchFamily="34" charset="0"/>
                <a:ea typeface="Inter" pitchFamily="34" charset="-122"/>
                <a:cs typeface="Inter" pitchFamily="34" charset="-120"/>
              </a:rPr>
              <a:t>One connected experience for the rental journey</a:t>
            </a:r>
            <a:endParaRPr lang="en-US" sz="3000" dirty="0"/>
          </a:p>
        </p:txBody>
      </p:sp>
      <p:pic>
        <p:nvPicPr>
          <p:cNvPr id="4" name="Image 0" descr="NIVORA prototype welcome screen">    </p:cNvPr>
          <p:cNvPicPr>
            <a:picLocks noChangeAspect="1"/>
          </p:cNvPicPr>
          <p:nvPr/>
        </p:nvPicPr>
        <p:blipFill>
          <a:blip r:embed="rId1"/>
          <a:stretch>
            <a:fillRect/>
          </a:stretch>
        </p:blipFill>
        <p:spPr>
          <a:xfrm>
            <a:off x="685800" y="1664208"/>
            <a:ext cx="5623560" cy="4045017"/>
          </a:xfrm>
          <a:prstGeom prst="rect">
            <a:avLst/>
          </a:prstGeom>
        </p:spPr>
      </p:pic>
      <p:sp>
        <p:nvSpPr>
          <p:cNvPr id="5" name="Text 2"/>
          <p:cNvSpPr txBox="1"/>
          <p:nvPr/>
        </p:nvSpPr>
        <p:spPr>
          <a:xfrm>
            <a:off x="685800" y="5800665"/>
            <a:ext cx="5623560" cy="219456"/>
          </a:xfrm>
          <a:prstGeom prst="rect">
            <a:avLst/>
          </a:prstGeom>
          <a:noFill/>
          <a:ln/>
        </p:spPr>
        <p:txBody>
          <a:bodyPr wrap="square" lIns="0" tIns="0" rIns="0" bIns="0" rtlCol="0" anchor="t"/>
          <a:lstStyle/>
          <a:p>
            <a:pPr indent="0" marL="0">
              <a:buNone/>
            </a:pPr>
            <a:r>
              <a:rPr lang="en-US" sz="950" dirty="0">
                <a:solidFill>
                  <a:schemeClr val="accent3"/>
                </a:solidFill>
                <a:latin typeface="Inter" pitchFamily="34" charset="0"/>
                <a:ea typeface="Inter" pitchFamily="34" charset="-122"/>
                <a:cs typeface="Inter" pitchFamily="34" charset="-120"/>
              </a:rPr>
              <a:t>Actual prototype interface: the welcome screen</a:t>
            </a:r>
            <a:endParaRPr lang="en-US" sz="950" dirty="0"/>
          </a:p>
        </p:txBody>
      </p:sp>
      <p:sp>
        <p:nvSpPr>
          <p:cNvPr id="6" name="Shape 3"/>
          <p:cNvSpPr/>
          <p:nvPr/>
        </p:nvSpPr>
        <p:spPr>
          <a:xfrm>
            <a:off x="7040880" y="2121408"/>
            <a:ext cx="0" cy="2157984"/>
          </a:xfrm>
          <a:prstGeom prst="line">
            <a:avLst/>
          </a:prstGeom>
          <a:noFill/>
          <a:ln w="15875">
            <a:solidFill>
              <a:schemeClr val="accent1"/>
            </a:solidFill>
            <a:prstDash val="solid"/>
          </a:ln>
        </p:spPr>
      </p:sp>
      <p:sp>
        <p:nvSpPr>
          <p:cNvPr id="7" name="Shape 4"/>
          <p:cNvSpPr/>
          <p:nvPr/>
        </p:nvSpPr>
        <p:spPr>
          <a:xfrm>
            <a:off x="6812280" y="1664208"/>
            <a:ext cx="457200" cy="457200"/>
          </a:xfrm>
          <a:prstGeom prst="ellipse">
            <a:avLst/>
          </a:prstGeom>
          <a:solidFill>
            <a:schemeClr val="tx2"/>
          </a:solidFill>
          <a:ln/>
        </p:spPr>
      </p:sp>
      <p:pic>
        <p:nvPicPr>
          <p:cNvPr id="8" name="Image 1" descr="/home/claude/work/assets/discover_gold.png">    </p:cNvPr>
          <p:cNvPicPr>
            <a:picLocks noChangeAspect="1"/>
          </p:cNvPicPr>
          <p:nvPr/>
        </p:nvPicPr>
        <p:blipFill>
          <a:blip r:embed="rId2"/>
          <a:stretch>
            <a:fillRect/>
          </a:stretch>
        </p:blipFill>
        <p:spPr>
          <a:xfrm>
            <a:off x="6935724" y="1787652"/>
            <a:ext cx="210312" cy="210312"/>
          </a:xfrm>
          <a:prstGeom prst="rect">
            <a:avLst/>
          </a:prstGeom>
        </p:spPr>
      </p:pic>
      <p:sp>
        <p:nvSpPr>
          <p:cNvPr id="9" name="Text 5"/>
          <p:cNvSpPr txBox="1"/>
          <p:nvPr/>
        </p:nvSpPr>
        <p:spPr>
          <a:xfrm>
            <a:off x="7498080" y="1682496"/>
            <a:ext cx="4007815" cy="274320"/>
          </a:xfrm>
          <a:prstGeom prst="rect">
            <a:avLst/>
          </a:prstGeom>
          <a:noFill/>
          <a:ln/>
        </p:spPr>
        <p:txBody>
          <a:bodyPr wrap="square" lIns="0" tIns="0" rIns="0" bIns="0" rtlCol="0" anchor="ctr"/>
          <a:lstStyle/>
          <a:p>
            <a:pPr indent="0" marL="0">
              <a:buNone/>
            </a:pPr>
            <a:r>
              <a:rPr lang="en-US" sz="1300" b="1" spc="200" kern="0" dirty="0">
                <a:solidFill>
                  <a:schemeClr val="tx1"/>
                </a:solidFill>
                <a:latin typeface="Inter" pitchFamily="34" charset="0"/>
                <a:ea typeface="Inter" pitchFamily="34" charset="-122"/>
                <a:cs typeface="Inter" pitchFamily="34" charset="-120"/>
              </a:rPr>
              <a:t>DISCOVER</a:t>
            </a:r>
            <a:endParaRPr lang="en-US" sz="1300" dirty="0"/>
          </a:p>
        </p:txBody>
      </p:sp>
      <p:sp>
        <p:nvSpPr>
          <p:cNvPr id="10" name="Text 6"/>
          <p:cNvSpPr txBox="1"/>
          <p:nvPr/>
        </p:nvSpPr>
        <p:spPr>
          <a:xfrm>
            <a:off x="7498080" y="1993392"/>
            <a:ext cx="4007815" cy="603504"/>
          </a:xfrm>
          <a:prstGeom prst="rect">
            <a:avLst/>
          </a:prstGeom>
          <a:noFill/>
          <a:ln/>
        </p:spPr>
        <p:txBody>
          <a:bodyPr wrap="square" lIns="0" tIns="0" rIns="0" bIns="0" rtlCol="0" anchor="t"/>
          <a:lstStyle/>
          <a:p>
            <a:pPr indent="0" marL="0">
              <a:buNone/>
            </a:pPr>
            <a:r>
              <a:rPr lang="en-US" sz="1300" dirty="0">
                <a:solidFill>
                  <a:schemeClr val="accent3"/>
                </a:solidFill>
                <a:latin typeface="Inter" pitchFamily="34" charset="0"/>
                <a:ea typeface="Inter" pitchFamily="34" charset="-122"/>
                <a:cs typeface="Inter" pitchFamily="34" charset="-120"/>
              </a:rPr>
              <a:t>Explore rentals around a college, workplace or area, by radius, budget and preferences.</a:t>
            </a:r>
            <a:endParaRPr lang="en-US" sz="1300" dirty="0"/>
          </a:p>
        </p:txBody>
      </p:sp>
      <p:sp>
        <p:nvSpPr>
          <p:cNvPr id="11" name="chip"/>
          <p:cNvSpPr/>
          <p:nvPr/>
        </p:nvSpPr>
        <p:spPr>
          <a:xfrm>
            <a:off x="7498080" y="2633472"/>
            <a:ext cx="2185416" cy="256032"/>
          </a:xfrm>
          <a:prstGeom prst="roundRect">
            <a:avLst>
              <a:gd name="adj" fmla="val 50000"/>
            </a:avLst>
          </a:prstGeom>
          <a:solidFill>
            <a:schemeClr val="bg1"/>
          </a:solidFill>
          <a:ln w="9525">
            <a:solidFill>
              <a:schemeClr val="accent4"/>
            </a:solidFill>
            <a:prstDash val="solid"/>
          </a:ln>
        </p:spPr>
      </p:sp>
      <p:sp>
        <p:nvSpPr>
          <p:cNvPr id="12" name="Text 8"/>
          <p:cNvSpPr txBox="1"/>
          <p:nvPr/>
        </p:nvSpPr>
        <p:spPr>
          <a:xfrm>
            <a:off x="7498080" y="2633472"/>
            <a:ext cx="2185416" cy="256032"/>
          </a:xfrm>
          <a:prstGeom prst="rect">
            <a:avLst/>
          </a:prstGeom>
          <a:noFill/>
          <a:ln/>
        </p:spPr>
        <p:txBody>
          <a:bodyPr wrap="square" lIns="0" tIns="0" rIns="0" bIns="0" rtlCol="0" anchor="ctr"/>
          <a:lstStyle/>
          <a:p>
            <a:pPr algn="ctr" indent="0" marL="0">
              <a:buNone/>
            </a:pPr>
            <a:r>
              <a:rPr lang="en-US" sz="850" b="1" spc="120" kern="0" dirty="0">
                <a:solidFill>
                  <a:schemeClr val="tx1"/>
                </a:solidFill>
                <a:latin typeface="Inter" pitchFamily="34" charset="0"/>
                <a:ea typeface="Inter" pitchFamily="34" charset="-122"/>
                <a:cs typeface="Inter" pitchFamily="34" charset="-120"/>
              </a:rPr>
              <a:t>IN PROTOTYPE · DEMO HOMES</a:t>
            </a:r>
            <a:endParaRPr lang="en-US" sz="850" dirty="0"/>
          </a:p>
        </p:txBody>
      </p:sp>
      <p:sp>
        <p:nvSpPr>
          <p:cNvPr id="13" name="Shape 9"/>
          <p:cNvSpPr/>
          <p:nvPr/>
        </p:nvSpPr>
        <p:spPr>
          <a:xfrm>
            <a:off x="6812280" y="2971800"/>
            <a:ext cx="457200" cy="457200"/>
          </a:xfrm>
          <a:prstGeom prst="ellipse">
            <a:avLst/>
          </a:prstGeom>
          <a:solidFill>
            <a:schemeClr val="tx2"/>
          </a:solidFill>
          <a:ln/>
        </p:spPr>
      </p:sp>
      <p:pic>
        <p:nvPicPr>
          <p:cNvPr id="14" name="Image 2" descr="/home/claude/work/assets/informed_gold.png">    </p:cNvPr>
          <p:cNvPicPr>
            <a:picLocks noChangeAspect="1"/>
          </p:cNvPicPr>
          <p:nvPr/>
        </p:nvPicPr>
        <p:blipFill>
          <a:blip r:embed="rId3"/>
          <a:stretch>
            <a:fillRect/>
          </a:stretch>
        </p:blipFill>
        <p:spPr>
          <a:xfrm>
            <a:off x="6935724" y="3095244"/>
            <a:ext cx="210312" cy="210312"/>
          </a:xfrm>
          <a:prstGeom prst="rect">
            <a:avLst/>
          </a:prstGeom>
        </p:spPr>
      </p:pic>
      <p:sp>
        <p:nvSpPr>
          <p:cNvPr id="15" name="Text 10"/>
          <p:cNvSpPr txBox="1"/>
          <p:nvPr/>
        </p:nvSpPr>
        <p:spPr>
          <a:xfrm>
            <a:off x="7498080" y="2990088"/>
            <a:ext cx="4007815" cy="274320"/>
          </a:xfrm>
          <a:prstGeom prst="rect">
            <a:avLst/>
          </a:prstGeom>
          <a:noFill/>
          <a:ln/>
        </p:spPr>
        <p:txBody>
          <a:bodyPr wrap="square" lIns="0" tIns="0" rIns="0" bIns="0" rtlCol="0" anchor="ctr"/>
          <a:lstStyle/>
          <a:p>
            <a:pPr indent="0" marL="0">
              <a:buNone/>
            </a:pPr>
            <a:r>
              <a:rPr lang="en-US" sz="1300" b="1" spc="200" kern="0" dirty="0">
                <a:solidFill>
                  <a:schemeClr val="tx1"/>
                </a:solidFill>
                <a:latin typeface="Inter" pitchFamily="34" charset="0"/>
                <a:ea typeface="Inter" pitchFamily="34" charset="-122"/>
                <a:cs typeface="Inter" pitchFamily="34" charset="-120"/>
              </a:rPr>
              <a:t>MAKE INFORMED CHOICES</a:t>
            </a:r>
            <a:endParaRPr lang="en-US" sz="1300" dirty="0"/>
          </a:p>
        </p:txBody>
      </p:sp>
      <p:sp>
        <p:nvSpPr>
          <p:cNvPr id="16" name="Text 11"/>
          <p:cNvSpPr txBox="1"/>
          <p:nvPr/>
        </p:nvSpPr>
        <p:spPr>
          <a:xfrm>
            <a:off x="7498080" y="3300984"/>
            <a:ext cx="4007815" cy="603504"/>
          </a:xfrm>
          <a:prstGeom prst="rect">
            <a:avLst/>
          </a:prstGeom>
          <a:noFill/>
          <a:ln/>
        </p:spPr>
        <p:txBody>
          <a:bodyPr wrap="square" lIns="0" tIns="0" rIns="0" bIns="0" rtlCol="0" anchor="t"/>
          <a:lstStyle/>
          <a:p>
            <a:pPr indent="0" marL="0">
              <a:buNone/>
            </a:pPr>
            <a:r>
              <a:rPr lang="en-US" sz="1300" dirty="0">
                <a:solidFill>
                  <a:schemeClr val="accent3"/>
                </a:solidFill>
                <a:latin typeface="Inter" pitchFamily="34" charset="0"/>
                <a:ea typeface="Inter" pitchFamily="34" charset="-122"/>
                <a:cs typeface="Inter" pitchFamily="34" charset="-120"/>
              </a:rPr>
              <a:t>See listing details and four separate trust checks, so it’s clear what has and hasn’t been checked.</a:t>
            </a:r>
            <a:endParaRPr lang="en-US" sz="1300" dirty="0"/>
          </a:p>
        </p:txBody>
      </p:sp>
      <p:sp>
        <p:nvSpPr>
          <p:cNvPr id="17" name="chip"/>
          <p:cNvSpPr/>
          <p:nvPr/>
        </p:nvSpPr>
        <p:spPr>
          <a:xfrm>
            <a:off x="7498080" y="3941064"/>
            <a:ext cx="2260397" cy="256032"/>
          </a:xfrm>
          <a:prstGeom prst="roundRect">
            <a:avLst>
              <a:gd name="adj" fmla="val 50000"/>
            </a:avLst>
          </a:prstGeom>
          <a:solidFill>
            <a:schemeClr val="bg1"/>
          </a:solidFill>
          <a:ln w="9525">
            <a:solidFill>
              <a:schemeClr val="accent4"/>
            </a:solidFill>
            <a:prstDash val="solid"/>
          </a:ln>
        </p:spPr>
      </p:sp>
      <p:sp>
        <p:nvSpPr>
          <p:cNvPr id="18" name="Text 13"/>
          <p:cNvSpPr txBox="1"/>
          <p:nvPr/>
        </p:nvSpPr>
        <p:spPr>
          <a:xfrm>
            <a:off x="7498080" y="3941064"/>
            <a:ext cx="2260397" cy="256032"/>
          </a:xfrm>
          <a:prstGeom prst="rect">
            <a:avLst/>
          </a:prstGeom>
          <a:noFill/>
          <a:ln/>
        </p:spPr>
        <p:txBody>
          <a:bodyPr wrap="square" lIns="0" tIns="0" rIns="0" bIns="0" rtlCol="0" anchor="ctr"/>
          <a:lstStyle/>
          <a:p>
            <a:pPr algn="ctr" indent="0" marL="0">
              <a:buNone/>
            </a:pPr>
            <a:r>
              <a:rPr lang="en-US" sz="850" b="1" spc="120" kern="0" dirty="0">
                <a:solidFill>
                  <a:schemeClr val="tx1"/>
                </a:solidFill>
                <a:latin typeface="Inter" pitchFamily="34" charset="0"/>
                <a:ea typeface="Inter" pitchFamily="34" charset="-122"/>
                <a:cs typeface="Inter" pitchFamily="34" charset="-120"/>
              </a:rPr>
              <a:t>IN PROTOTYPE · DEMO LABELS</a:t>
            </a:r>
            <a:endParaRPr lang="en-US" sz="850" dirty="0"/>
          </a:p>
        </p:txBody>
      </p:sp>
      <p:sp>
        <p:nvSpPr>
          <p:cNvPr id="19" name="Shape 14"/>
          <p:cNvSpPr/>
          <p:nvPr/>
        </p:nvSpPr>
        <p:spPr>
          <a:xfrm>
            <a:off x="6812280" y="4279392"/>
            <a:ext cx="457200" cy="457200"/>
          </a:xfrm>
          <a:prstGeom prst="ellipse">
            <a:avLst/>
          </a:prstGeom>
          <a:solidFill>
            <a:schemeClr val="tx2"/>
          </a:solidFill>
          <a:ln/>
        </p:spPr>
      </p:sp>
      <p:pic>
        <p:nvPicPr>
          <p:cNvPr id="20" name="Image 3" descr="/home/claude/work/assets/route_gold.png">    </p:cNvPr>
          <p:cNvPicPr>
            <a:picLocks noChangeAspect="1"/>
          </p:cNvPicPr>
          <p:nvPr/>
        </p:nvPicPr>
        <p:blipFill>
          <a:blip r:embed="rId4"/>
          <a:stretch>
            <a:fillRect/>
          </a:stretch>
        </p:blipFill>
        <p:spPr>
          <a:xfrm>
            <a:off x="6935724" y="4402836"/>
            <a:ext cx="210312" cy="210312"/>
          </a:xfrm>
          <a:prstGeom prst="rect">
            <a:avLst/>
          </a:prstGeom>
        </p:spPr>
      </p:pic>
      <p:sp>
        <p:nvSpPr>
          <p:cNvPr id="21" name="Text 15"/>
          <p:cNvSpPr txBox="1"/>
          <p:nvPr/>
        </p:nvSpPr>
        <p:spPr>
          <a:xfrm>
            <a:off x="7498080" y="4297680"/>
            <a:ext cx="4007815" cy="274320"/>
          </a:xfrm>
          <a:prstGeom prst="rect">
            <a:avLst/>
          </a:prstGeom>
          <a:noFill/>
          <a:ln/>
        </p:spPr>
        <p:txBody>
          <a:bodyPr wrap="square" lIns="0" tIns="0" rIns="0" bIns="0" rtlCol="0" anchor="ctr"/>
          <a:lstStyle/>
          <a:p>
            <a:pPr indent="0" marL="0">
              <a:buNone/>
            </a:pPr>
            <a:r>
              <a:rPr lang="en-US" sz="1300" b="1" spc="200" kern="0" dirty="0">
                <a:solidFill>
                  <a:schemeClr val="tx1"/>
                </a:solidFill>
                <a:latin typeface="Inter" pitchFamily="34" charset="0"/>
                <a:ea typeface="Inter" pitchFamily="34" charset="-122"/>
                <a:cs typeface="Inter" pitchFamily="34" charset="-120"/>
              </a:rPr>
              <a:t>CONNECT THE JOURNEY</a:t>
            </a:r>
            <a:endParaRPr lang="en-US" sz="1300" dirty="0"/>
          </a:p>
        </p:txBody>
      </p:sp>
      <p:sp>
        <p:nvSpPr>
          <p:cNvPr id="22" name="Text 16"/>
          <p:cNvSpPr txBox="1"/>
          <p:nvPr/>
        </p:nvSpPr>
        <p:spPr>
          <a:xfrm>
            <a:off x="7498080" y="4608576"/>
            <a:ext cx="4007815" cy="603504"/>
          </a:xfrm>
          <a:prstGeom prst="rect">
            <a:avLst/>
          </a:prstGeom>
          <a:noFill/>
          <a:ln/>
        </p:spPr>
        <p:txBody>
          <a:bodyPr wrap="square" lIns="0" tIns="0" rIns="0" bIns="0" rtlCol="0" anchor="t"/>
          <a:lstStyle/>
          <a:p>
            <a:pPr indent="0" marL="0">
              <a:buNone/>
            </a:pPr>
            <a:r>
              <a:rPr lang="en-US" sz="1300" dirty="0">
                <a:solidFill>
                  <a:schemeClr val="accent3"/>
                </a:solidFill>
                <a:latin typeface="Inter" pitchFamily="34" charset="0"/>
                <a:ea typeface="Inter" pitchFamily="34" charset="-122"/>
                <a:cs typeface="Inter" pitchFamily="34" charset="-120"/>
              </a:rPr>
              <a:t>Tenant and owner already share visit requests. Agreements and payments come only once built.</a:t>
            </a:r>
            <a:endParaRPr lang="en-US" sz="1300" dirty="0"/>
          </a:p>
        </p:txBody>
      </p:sp>
      <p:sp>
        <p:nvSpPr>
          <p:cNvPr id="23" name="chip"/>
          <p:cNvSpPr/>
          <p:nvPr/>
        </p:nvSpPr>
        <p:spPr>
          <a:xfrm>
            <a:off x="7498080" y="5248656"/>
            <a:ext cx="2860243" cy="256032"/>
          </a:xfrm>
          <a:prstGeom prst="roundRect">
            <a:avLst>
              <a:gd name="adj" fmla="val 50000"/>
            </a:avLst>
          </a:prstGeom>
          <a:solidFill>
            <a:schemeClr val="bg1"/>
          </a:solidFill>
          <a:ln w="9525">
            <a:solidFill>
              <a:schemeClr val="accent4"/>
            </a:solidFill>
            <a:prstDash val="solid"/>
          </a:ln>
        </p:spPr>
      </p:sp>
      <p:sp>
        <p:nvSpPr>
          <p:cNvPr id="24" name="Text 18"/>
          <p:cNvSpPr txBox="1"/>
          <p:nvPr/>
        </p:nvSpPr>
        <p:spPr>
          <a:xfrm>
            <a:off x="7498080" y="5248656"/>
            <a:ext cx="2860243" cy="256032"/>
          </a:xfrm>
          <a:prstGeom prst="rect">
            <a:avLst/>
          </a:prstGeom>
          <a:noFill/>
          <a:ln/>
        </p:spPr>
        <p:txBody>
          <a:bodyPr wrap="square" lIns="0" tIns="0" rIns="0" bIns="0" rtlCol="0" anchor="ctr"/>
          <a:lstStyle/>
          <a:p>
            <a:pPr algn="ctr" indent="0" marL="0">
              <a:buNone/>
            </a:pPr>
            <a:r>
              <a:rPr lang="en-US" sz="850" b="1" spc="120" kern="0" dirty="0">
                <a:solidFill>
                  <a:schemeClr val="tx1"/>
                </a:solidFill>
                <a:latin typeface="Inter" pitchFamily="34" charset="0"/>
                <a:ea typeface="Inter" pitchFamily="34" charset="-122"/>
                <a:cs typeface="Inter" pitchFamily="34" charset="-120"/>
              </a:rPr>
              <a:t>PARTLY IN PROTOTYPE · REST PLANNED</a:t>
            </a:r>
            <a:endParaRPr lang="en-US" sz="850" dirty="0"/>
          </a:p>
        </p:txBody>
      </p:sp>
      <p:sp>
        <p:nvSpPr>
          <p:cNvPr id="25" name="Shape 19"/>
          <p:cNvSpPr/>
          <p:nvPr/>
        </p:nvSpPr>
        <p:spPr>
          <a:xfrm>
            <a:off x="6812280" y="5641848"/>
            <a:ext cx="4693615" cy="530352"/>
          </a:xfrm>
          <a:prstGeom prst="rect">
            <a:avLst/>
          </a:prstGeom>
          <a:solidFill>
            <a:schemeClr val="bg1"/>
          </a:solidFill>
          <a:ln w="9525">
            <a:solidFill>
              <a:schemeClr val="accent4"/>
            </a:solidFill>
            <a:prstDash val="solid"/>
          </a:ln>
        </p:spPr>
      </p:sp>
      <p:sp>
        <p:nvSpPr>
          <p:cNvPr id="26" name="Text 20"/>
          <p:cNvSpPr txBox="1"/>
          <p:nvPr/>
        </p:nvSpPr>
        <p:spPr>
          <a:xfrm>
            <a:off x="6995160" y="5641848"/>
            <a:ext cx="4327855" cy="530352"/>
          </a:xfrm>
          <a:prstGeom prst="rect">
            <a:avLst/>
          </a:prstGeom>
          <a:noFill/>
          <a:ln/>
        </p:spPr>
        <p:txBody>
          <a:bodyPr wrap="square" lIns="0" tIns="0" rIns="0" bIns="0" rtlCol="0" anchor="ctr"/>
          <a:lstStyle/>
          <a:p>
            <a:pPr indent="0" marL="0">
              <a:buNone/>
            </a:pPr>
            <a:r>
              <a:rPr lang="en-US" sz="1300" b="1" dirty="0">
                <a:solidFill>
                  <a:schemeClr val="tx1"/>
                </a:solidFill>
                <a:latin typeface="Inter" pitchFamily="34" charset="0"/>
                <a:ea typeface="Inter" pitchFamily="34" charset="-122"/>
                <a:cs typeface="Inter" pitchFamily="34" charset="-120"/>
              </a:rPr>
              <a:t>Being built beyond a directory of listings, toward a connected rental-living experience.</a:t>
            </a:r>
            <a:endParaRPr lang="en-US" sz="1300" dirty="0"/>
          </a:p>
        </p:txBody>
      </p:sp>
      <p:sp>
        <p:nvSpPr>
          <p:cNvPr id="25" name="Slide Number Placeholder 0"/>
          <p:cNvSpPr>
            <a:spLocks noGrp="1"/>
          </p:cNvSpPr>
          <p:nvPr>
            <p:ph type="sldNum" sz="quarter" idx="4294967295"/>
          </p:nvPr>
        </p:nvSpPr>
        <p:spPr>
          <a:xfrm>
            <a:off x="10957255" y="6355080"/>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685800" y="438912"/>
            <a:ext cx="82296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THE PRODUCT</a:t>
            </a:r>
            <a:endParaRPr lang="en-US" sz="1100" dirty="0"/>
          </a:p>
        </p:txBody>
      </p:sp>
      <p:sp>
        <p:nvSpPr>
          <p:cNvPr id="3" name="Text 1"/>
          <p:cNvSpPr/>
          <p:nvPr>
            <p:ph idx="103" type="title" hasCustomPrompt="1"/>
          </p:nvPr>
        </p:nvSpPr>
        <p:spPr>
          <a:xfrm>
            <a:off x="685800" y="749808"/>
            <a:ext cx="10820095" cy="731520"/>
          </a:xfrm>
          <a:prstGeom prst="rect">
            <a:avLst/>
          </a:prstGeom>
          <a:noFill/>
          <a:ln/>
        </p:spPr>
        <p:txBody>
          <a:bodyPr wrap="square" lIns="0" tIns="0" rIns="0" bIns="0" rtlCol="0" anchor="t"/>
          <a:lstStyle/>
          <a:p>
            <a:pPr algn="l" indent="0" marL="0">
              <a:buNone/>
            </a:pPr>
            <a:r>
              <a:rPr lang="en-US" sz="3000" b="1" dirty="0">
                <a:solidFill>
                  <a:schemeClr val="tx1"/>
                </a:solidFill>
                <a:latin typeface="Inter" pitchFamily="34" charset="0"/>
                <a:ea typeface="Inter" pitchFamily="34" charset="-122"/>
                <a:cs typeface="Inter" pitchFamily="34" charset="-120"/>
              </a:rPr>
              <a:t>A more guided way to find your next home</a:t>
            </a:r>
            <a:endParaRPr lang="en-US" sz="3000" dirty="0"/>
          </a:p>
        </p:txBody>
      </p:sp>
      <p:sp>
        <p:nvSpPr>
          <p:cNvPr id="4" name="Shape 2"/>
          <p:cNvSpPr/>
          <p:nvPr/>
        </p:nvSpPr>
        <p:spPr>
          <a:xfrm>
            <a:off x="2331720" y="1938528"/>
            <a:ext cx="0" cy="3200400"/>
          </a:xfrm>
          <a:prstGeom prst="line">
            <a:avLst/>
          </a:prstGeom>
          <a:noFill/>
          <a:ln w="12700">
            <a:solidFill>
              <a:schemeClr val="accent1"/>
            </a:solidFill>
            <a:prstDash val="solid"/>
          </a:ln>
        </p:spPr>
      </p:sp>
      <p:pic>
        <p:nvPicPr>
          <p:cNvPr id="5" name="Image 0" descr="Prototype screen: Meet Nivi">    </p:cNvPr>
          <p:cNvPicPr>
            <a:picLocks noChangeAspect="1"/>
          </p:cNvPicPr>
          <p:nvPr/>
        </p:nvPicPr>
        <p:blipFill>
          <a:blip r:embed="rId1"/>
          <a:stretch>
            <a:fillRect/>
          </a:stretch>
        </p:blipFill>
        <p:spPr>
          <a:xfrm>
            <a:off x="685800" y="1645920"/>
            <a:ext cx="1353312" cy="1353312"/>
          </a:xfrm>
          <a:prstGeom prst="rect">
            <a:avLst/>
          </a:prstGeom>
        </p:spPr>
      </p:pic>
      <p:sp>
        <p:nvSpPr>
          <p:cNvPr id="6" name="Shape 3"/>
          <p:cNvSpPr/>
          <p:nvPr/>
        </p:nvSpPr>
        <p:spPr>
          <a:xfrm>
            <a:off x="2221992" y="1828800"/>
            <a:ext cx="219456" cy="219456"/>
          </a:xfrm>
          <a:prstGeom prst="ellipse">
            <a:avLst/>
          </a:prstGeom>
          <a:solidFill>
            <a:schemeClr val="accent1"/>
          </a:solidFill>
          <a:ln/>
        </p:spPr>
      </p:sp>
      <p:sp>
        <p:nvSpPr>
          <p:cNvPr id="7" name="Text 4"/>
          <p:cNvSpPr txBox="1"/>
          <p:nvPr/>
        </p:nvSpPr>
        <p:spPr>
          <a:xfrm>
            <a:off x="2542032" y="1801368"/>
            <a:ext cx="548640" cy="274320"/>
          </a:xfrm>
          <a:prstGeom prst="rect">
            <a:avLst/>
          </a:prstGeom>
          <a:noFill/>
          <a:ln/>
        </p:spPr>
        <p:txBody>
          <a:bodyPr wrap="square" lIns="0" tIns="0" rIns="0" bIns="0" rtlCol="0" anchor="ctr"/>
          <a:lstStyle/>
          <a:p>
            <a:pPr indent="0" marL="0">
              <a:buNone/>
            </a:pPr>
            <a:r>
              <a:rPr lang="en-US" sz="1100" b="1" dirty="0">
                <a:solidFill>
                  <a:schemeClr val="accent1"/>
                </a:solidFill>
                <a:latin typeface="Inter" pitchFamily="34" charset="0"/>
                <a:ea typeface="Inter" pitchFamily="34" charset="-122"/>
                <a:cs typeface="Inter" pitchFamily="34" charset="-120"/>
              </a:rPr>
              <a:t>01</a:t>
            </a:r>
            <a:endParaRPr lang="en-US" sz="1100" dirty="0"/>
          </a:p>
        </p:txBody>
      </p:sp>
      <p:sp>
        <p:nvSpPr>
          <p:cNvPr id="8" name="Text 5"/>
          <p:cNvSpPr txBox="1"/>
          <p:nvPr/>
        </p:nvSpPr>
        <p:spPr>
          <a:xfrm>
            <a:off x="2542032" y="2075688"/>
            <a:ext cx="2926080" cy="329184"/>
          </a:xfrm>
          <a:prstGeom prst="rect">
            <a:avLst/>
          </a:prstGeom>
          <a:noFill/>
          <a:ln/>
        </p:spPr>
        <p:txBody>
          <a:bodyPr wrap="square" lIns="0" tIns="0" rIns="0" bIns="0" rtlCol="0" anchor="ctr"/>
          <a:lstStyle/>
          <a:p>
            <a:pPr indent="0" marL="0">
              <a:buNone/>
            </a:pPr>
            <a:r>
              <a:rPr lang="en-US" sz="1500" b="1" dirty="0">
                <a:solidFill>
                  <a:schemeClr val="tx1"/>
                </a:solidFill>
                <a:latin typeface="Inter" pitchFamily="34" charset="0"/>
                <a:ea typeface="Inter" pitchFamily="34" charset="-122"/>
                <a:cs typeface="Inter" pitchFamily="34" charset="-120"/>
              </a:rPr>
              <a:t>Meet Nivi</a:t>
            </a:r>
            <a:endParaRPr lang="en-US" sz="1500" dirty="0"/>
          </a:p>
        </p:txBody>
      </p:sp>
      <p:sp>
        <p:nvSpPr>
          <p:cNvPr id="9" name="Text 6"/>
          <p:cNvSpPr txBox="1"/>
          <p:nvPr/>
        </p:nvSpPr>
        <p:spPr>
          <a:xfrm>
            <a:off x="2542032" y="2432304"/>
            <a:ext cx="2926080" cy="457200"/>
          </a:xfrm>
          <a:prstGeom prst="rect">
            <a:avLst/>
          </a:prstGeom>
          <a:noFill/>
          <a:ln/>
        </p:spPr>
        <p:txBody>
          <a:bodyPr wrap="square" lIns="0" tIns="0" rIns="0" bIns="0" rtlCol="0" anchor="t"/>
          <a:lstStyle/>
          <a:p>
            <a:pPr indent="0" marL="0">
              <a:buNone/>
            </a:pPr>
            <a:r>
              <a:rPr lang="en-US" sz="1200" dirty="0">
                <a:solidFill>
                  <a:schemeClr val="accent3"/>
                </a:solidFill>
                <a:latin typeface="Inter" pitchFamily="34" charset="0"/>
                <a:ea typeface="Inter" pitchFamily="34" charset="-122"/>
                <a:cs typeface="Inter" pitchFamily="34" charset="-120"/>
              </a:rPr>
              <a:t>A guide that asks one question at a time</a:t>
            </a:r>
            <a:endParaRPr lang="en-US" sz="1200" dirty="0"/>
          </a:p>
        </p:txBody>
      </p:sp>
      <p:pic>
        <p:nvPicPr>
          <p:cNvPr id="10" name="Image 1" descr="Prototype screen: Choose a place and a radius">    </p:cNvPr>
          <p:cNvPicPr>
            <a:picLocks noChangeAspect="1"/>
          </p:cNvPicPr>
          <p:nvPr/>
        </p:nvPicPr>
        <p:blipFill>
          <a:blip r:embed="rId2"/>
          <a:stretch>
            <a:fillRect/>
          </a:stretch>
        </p:blipFill>
        <p:spPr>
          <a:xfrm>
            <a:off x="685800" y="3154680"/>
            <a:ext cx="1353312" cy="1353312"/>
          </a:xfrm>
          <a:prstGeom prst="rect">
            <a:avLst/>
          </a:prstGeom>
        </p:spPr>
      </p:pic>
      <p:sp>
        <p:nvSpPr>
          <p:cNvPr id="11" name="Shape 7"/>
          <p:cNvSpPr/>
          <p:nvPr/>
        </p:nvSpPr>
        <p:spPr>
          <a:xfrm>
            <a:off x="2221992" y="3337560"/>
            <a:ext cx="219456" cy="219456"/>
          </a:xfrm>
          <a:prstGeom prst="ellipse">
            <a:avLst/>
          </a:prstGeom>
          <a:solidFill>
            <a:schemeClr val="accent1"/>
          </a:solidFill>
          <a:ln/>
        </p:spPr>
      </p:sp>
      <p:sp>
        <p:nvSpPr>
          <p:cNvPr id="12" name="Text 8"/>
          <p:cNvSpPr txBox="1"/>
          <p:nvPr/>
        </p:nvSpPr>
        <p:spPr>
          <a:xfrm>
            <a:off x="2542032" y="3310128"/>
            <a:ext cx="548640" cy="274320"/>
          </a:xfrm>
          <a:prstGeom prst="rect">
            <a:avLst/>
          </a:prstGeom>
          <a:noFill/>
          <a:ln/>
        </p:spPr>
        <p:txBody>
          <a:bodyPr wrap="square" lIns="0" tIns="0" rIns="0" bIns="0" rtlCol="0" anchor="ctr"/>
          <a:lstStyle/>
          <a:p>
            <a:pPr indent="0" marL="0">
              <a:buNone/>
            </a:pPr>
            <a:r>
              <a:rPr lang="en-US" sz="1100" b="1" dirty="0">
                <a:solidFill>
                  <a:schemeClr val="accent1"/>
                </a:solidFill>
                <a:latin typeface="Inter" pitchFamily="34" charset="0"/>
                <a:ea typeface="Inter" pitchFamily="34" charset="-122"/>
                <a:cs typeface="Inter" pitchFamily="34" charset="-120"/>
              </a:rPr>
              <a:t>02</a:t>
            </a:r>
            <a:endParaRPr lang="en-US" sz="1100" dirty="0"/>
          </a:p>
        </p:txBody>
      </p:sp>
      <p:sp>
        <p:nvSpPr>
          <p:cNvPr id="13" name="Text 9"/>
          <p:cNvSpPr txBox="1"/>
          <p:nvPr/>
        </p:nvSpPr>
        <p:spPr>
          <a:xfrm>
            <a:off x="2542032" y="3584448"/>
            <a:ext cx="2926080" cy="329184"/>
          </a:xfrm>
          <a:prstGeom prst="rect">
            <a:avLst/>
          </a:prstGeom>
          <a:noFill/>
          <a:ln/>
        </p:spPr>
        <p:txBody>
          <a:bodyPr wrap="square" lIns="0" tIns="0" rIns="0" bIns="0" rtlCol="0" anchor="ctr"/>
          <a:lstStyle/>
          <a:p>
            <a:pPr indent="0" marL="0">
              <a:buNone/>
            </a:pPr>
            <a:r>
              <a:rPr lang="en-US" sz="1500" b="1" dirty="0">
                <a:solidFill>
                  <a:schemeClr val="tx1"/>
                </a:solidFill>
                <a:latin typeface="Inter" pitchFamily="34" charset="0"/>
                <a:ea typeface="Inter" pitchFamily="34" charset="-122"/>
                <a:cs typeface="Inter" pitchFamily="34" charset="-120"/>
              </a:rPr>
              <a:t>Choose a place and a radius</a:t>
            </a:r>
            <a:endParaRPr lang="en-US" sz="1500" dirty="0"/>
          </a:p>
        </p:txBody>
      </p:sp>
      <p:sp>
        <p:nvSpPr>
          <p:cNvPr id="14" name="Text 10"/>
          <p:cNvSpPr txBox="1"/>
          <p:nvPr/>
        </p:nvSpPr>
        <p:spPr>
          <a:xfrm>
            <a:off x="2542032" y="3941064"/>
            <a:ext cx="2926080" cy="457200"/>
          </a:xfrm>
          <a:prstGeom prst="rect">
            <a:avLst/>
          </a:prstGeom>
          <a:noFill/>
          <a:ln/>
        </p:spPr>
        <p:txBody>
          <a:bodyPr wrap="square" lIns="0" tIns="0" rIns="0" bIns="0" rtlCol="0" anchor="t"/>
          <a:lstStyle/>
          <a:p>
            <a:pPr indent="0" marL="0">
              <a:buNone/>
            </a:pPr>
            <a:r>
              <a:rPr lang="en-US" sz="1200" dirty="0">
                <a:solidFill>
                  <a:schemeClr val="accent3"/>
                </a:solidFill>
                <a:latin typeface="Inter" pitchFamily="34" charset="0"/>
                <a:ea typeface="Inter" pitchFamily="34" charset="-122"/>
                <a:cs typeface="Inter" pitchFamily="34" charset="-120"/>
              </a:rPr>
              <a:t>A college or office, then 2–10 km straight-line</a:t>
            </a:r>
            <a:endParaRPr lang="en-US" sz="1200" dirty="0"/>
          </a:p>
        </p:txBody>
      </p:sp>
      <p:pic>
        <p:nvPicPr>
          <p:cNvPr id="15" name="Image 2" descr="Prototype screen: Share preferences">    </p:cNvPr>
          <p:cNvPicPr>
            <a:picLocks noChangeAspect="1"/>
          </p:cNvPicPr>
          <p:nvPr/>
        </p:nvPicPr>
        <p:blipFill>
          <a:blip r:embed="rId3"/>
          <a:stretch>
            <a:fillRect/>
          </a:stretch>
        </p:blipFill>
        <p:spPr>
          <a:xfrm>
            <a:off x="685800" y="4663440"/>
            <a:ext cx="1353312" cy="1353312"/>
          </a:xfrm>
          <a:prstGeom prst="rect">
            <a:avLst/>
          </a:prstGeom>
        </p:spPr>
      </p:pic>
      <p:sp>
        <p:nvSpPr>
          <p:cNvPr id="16" name="Shape 11"/>
          <p:cNvSpPr/>
          <p:nvPr/>
        </p:nvSpPr>
        <p:spPr>
          <a:xfrm>
            <a:off x="2221992" y="4846320"/>
            <a:ext cx="219456" cy="219456"/>
          </a:xfrm>
          <a:prstGeom prst="ellipse">
            <a:avLst/>
          </a:prstGeom>
          <a:solidFill>
            <a:schemeClr val="accent1"/>
          </a:solidFill>
          <a:ln/>
        </p:spPr>
      </p:sp>
      <p:sp>
        <p:nvSpPr>
          <p:cNvPr id="17" name="Text 12"/>
          <p:cNvSpPr txBox="1"/>
          <p:nvPr/>
        </p:nvSpPr>
        <p:spPr>
          <a:xfrm>
            <a:off x="2542032" y="4818888"/>
            <a:ext cx="548640" cy="274320"/>
          </a:xfrm>
          <a:prstGeom prst="rect">
            <a:avLst/>
          </a:prstGeom>
          <a:noFill/>
          <a:ln/>
        </p:spPr>
        <p:txBody>
          <a:bodyPr wrap="square" lIns="0" tIns="0" rIns="0" bIns="0" rtlCol="0" anchor="ctr"/>
          <a:lstStyle/>
          <a:p>
            <a:pPr indent="0" marL="0">
              <a:buNone/>
            </a:pPr>
            <a:r>
              <a:rPr lang="en-US" sz="1100" b="1" dirty="0">
                <a:solidFill>
                  <a:schemeClr val="accent1"/>
                </a:solidFill>
                <a:latin typeface="Inter" pitchFamily="34" charset="0"/>
                <a:ea typeface="Inter" pitchFamily="34" charset="-122"/>
                <a:cs typeface="Inter" pitchFamily="34" charset="-120"/>
              </a:rPr>
              <a:t>03</a:t>
            </a:r>
            <a:endParaRPr lang="en-US" sz="1100" dirty="0"/>
          </a:p>
        </p:txBody>
      </p:sp>
      <p:sp>
        <p:nvSpPr>
          <p:cNvPr id="18" name="Text 13"/>
          <p:cNvSpPr txBox="1"/>
          <p:nvPr/>
        </p:nvSpPr>
        <p:spPr>
          <a:xfrm>
            <a:off x="2542032" y="5093208"/>
            <a:ext cx="2926080" cy="329184"/>
          </a:xfrm>
          <a:prstGeom prst="rect">
            <a:avLst/>
          </a:prstGeom>
          <a:noFill/>
          <a:ln/>
        </p:spPr>
        <p:txBody>
          <a:bodyPr wrap="square" lIns="0" tIns="0" rIns="0" bIns="0" rtlCol="0" anchor="ctr"/>
          <a:lstStyle/>
          <a:p>
            <a:pPr indent="0" marL="0">
              <a:buNone/>
            </a:pPr>
            <a:r>
              <a:rPr lang="en-US" sz="1500" b="1" dirty="0">
                <a:solidFill>
                  <a:schemeClr val="tx1"/>
                </a:solidFill>
                <a:latin typeface="Inter" pitchFamily="34" charset="0"/>
                <a:ea typeface="Inter" pitchFamily="34" charset="-122"/>
                <a:cs typeface="Inter" pitchFamily="34" charset="-120"/>
              </a:rPr>
              <a:t>Share preferences</a:t>
            </a:r>
            <a:endParaRPr lang="en-US" sz="1500" dirty="0"/>
          </a:p>
        </p:txBody>
      </p:sp>
      <p:sp>
        <p:nvSpPr>
          <p:cNvPr id="19" name="Text 14"/>
          <p:cNvSpPr txBox="1"/>
          <p:nvPr/>
        </p:nvSpPr>
        <p:spPr>
          <a:xfrm>
            <a:off x="2542032" y="5449824"/>
            <a:ext cx="2926080" cy="457200"/>
          </a:xfrm>
          <a:prstGeom prst="rect">
            <a:avLst/>
          </a:prstGeom>
          <a:noFill/>
          <a:ln/>
        </p:spPr>
        <p:txBody>
          <a:bodyPr wrap="square" lIns="0" tIns="0" rIns="0" bIns="0" rtlCol="0" anchor="t"/>
          <a:lstStyle/>
          <a:p>
            <a:pPr indent="0" marL="0">
              <a:buNone/>
            </a:pPr>
            <a:r>
              <a:rPr lang="en-US" sz="1200" dirty="0">
                <a:solidFill>
                  <a:schemeClr val="accent3"/>
                </a:solidFill>
                <a:latin typeface="Inter" pitchFamily="34" charset="0"/>
                <a:ea typeface="Inter" pitchFamily="34" charset="-122"/>
                <a:cs typeface="Inter" pitchFamily="34" charset="-120"/>
              </a:rPr>
              <a:t>Furnishing, budget, home type, rooms, must-haves</a:t>
            </a:r>
            <a:endParaRPr lang="en-US" sz="1200" dirty="0"/>
          </a:p>
        </p:txBody>
      </p:sp>
      <p:pic>
        <p:nvPicPr>
          <p:cNvPr id="20" name="Image 3" descr="Prototype results screen with demo listings">    </p:cNvPr>
          <p:cNvPicPr>
            <a:picLocks noChangeAspect="1"/>
          </p:cNvPicPr>
          <p:nvPr/>
        </p:nvPicPr>
        <p:blipFill>
          <a:blip r:embed="rId4"/>
          <a:stretch>
            <a:fillRect/>
          </a:stretch>
        </p:blipFill>
        <p:spPr>
          <a:xfrm>
            <a:off x="5486400" y="1645920"/>
            <a:ext cx="6019495" cy="3705204"/>
          </a:xfrm>
          <a:prstGeom prst="rect">
            <a:avLst/>
          </a:prstGeom>
        </p:spPr>
      </p:pic>
      <p:sp>
        <p:nvSpPr>
          <p:cNvPr id="21" name="Shape 15"/>
          <p:cNvSpPr/>
          <p:nvPr/>
        </p:nvSpPr>
        <p:spPr>
          <a:xfrm>
            <a:off x="5486400" y="5543148"/>
            <a:ext cx="219456" cy="219456"/>
          </a:xfrm>
          <a:prstGeom prst="ellipse">
            <a:avLst/>
          </a:prstGeom>
          <a:solidFill>
            <a:schemeClr val="accent1"/>
          </a:solidFill>
          <a:ln/>
        </p:spPr>
      </p:sp>
      <p:sp>
        <p:nvSpPr>
          <p:cNvPr id="22" name="Text 16"/>
          <p:cNvSpPr txBox="1"/>
          <p:nvPr/>
        </p:nvSpPr>
        <p:spPr>
          <a:xfrm>
            <a:off x="5806440" y="5488284"/>
            <a:ext cx="5699455" cy="329184"/>
          </a:xfrm>
          <a:prstGeom prst="rect">
            <a:avLst/>
          </a:prstGeom>
          <a:noFill/>
          <a:ln/>
        </p:spPr>
        <p:txBody>
          <a:bodyPr wrap="square" lIns="0" tIns="0" rIns="0" bIns="0" rtlCol="0" anchor="ctr"/>
          <a:lstStyle/>
          <a:p>
            <a:pPr indent="0" marL="0">
              <a:buNone/>
            </a:pPr>
            <a:r>
              <a:rPr lang="en-US" sz="1400" b="1" dirty="0">
                <a:solidFill>
                  <a:schemeClr val="accent1"/>
                </a:solidFill>
                <a:latin typeface="Inter" pitchFamily="34" charset="0"/>
                <a:ea typeface="Inter" pitchFamily="34" charset="-122"/>
                <a:cs typeface="Inter" pitchFamily="34" charset="-120"/>
              </a:rPr>
              <a:t>04  </a:t>
            </a:r>
            <a:pPr indent="0" marL="0">
              <a:buNone/>
            </a:pPr>
            <a:r>
              <a:rPr lang="en-US" sz="1400" b="1" dirty="0">
                <a:solidFill>
                  <a:schemeClr val="tx1"/>
                </a:solidFill>
                <a:latin typeface="Inter" pitchFamily="34" charset="0"/>
                <a:ea typeface="Inter" pitchFamily="34" charset="-122"/>
                <a:cs typeface="Inter" pitchFamily="34" charset="-120"/>
              </a:rPr>
              <a:t>Explore matching homes, then open one to review it</a:t>
            </a:r>
            <a:endParaRPr lang="en-US" sz="1400" dirty="0"/>
          </a:p>
        </p:txBody>
      </p:sp>
      <p:sp>
        <p:nvSpPr>
          <p:cNvPr id="23" name="Text 17"/>
          <p:cNvSpPr txBox="1"/>
          <p:nvPr/>
        </p:nvSpPr>
        <p:spPr>
          <a:xfrm>
            <a:off x="5806440" y="5854044"/>
            <a:ext cx="5699455" cy="219456"/>
          </a:xfrm>
          <a:prstGeom prst="rect">
            <a:avLst/>
          </a:prstGeom>
          <a:noFill/>
          <a:ln/>
        </p:spPr>
        <p:txBody>
          <a:bodyPr wrap="square" lIns="0" tIns="0" rIns="0" bIns="0" rtlCol="0" anchor="t"/>
          <a:lstStyle/>
          <a:p>
            <a:pPr indent="0" marL="0">
              <a:buNone/>
            </a:pPr>
            <a:r>
              <a:rPr lang="en-US" sz="900" b="1" spc="120" kern="0" dirty="0">
                <a:solidFill>
                  <a:schemeClr val="accent3"/>
                </a:solidFill>
                <a:latin typeface="Inter" pitchFamily="34" charset="0"/>
                <a:ea typeface="Inter" pitchFamily="34" charset="-122"/>
                <a:cs typeface="Inter" pitchFamily="34" charset="-120"/>
              </a:rPr>
              <a:t>PROTOTYPE DEMO · ILLUSTRATIVE LISTINGS · SIMULATED POSITIONS</a:t>
            </a:r>
            <a:endParaRPr lang="en-US" sz="900" dirty="0"/>
          </a:p>
        </p:txBody>
      </p:sp>
      <p:sp>
        <p:nvSpPr>
          <p:cNvPr id="25" name="Slide Number Placeholder 0"/>
          <p:cNvSpPr>
            <a:spLocks noGrp="1"/>
          </p:cNvSpPr>
          <p:nvPr>
            <p:ph type="sldNum" sz="quarter" idx="4294967295"/>
          </p:nvPr>
        </p:nvSpPr>
        <p:spPr>
          <a:xfrm>
            <a:off x="10957255" y="6355080"/>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685800" y="438912"/>
            <a:ext cx="82296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TRUST &amp; DIFFERENTIATION</a:t>
            </a:r>
            <a:endParaRPr lang="en-US" sz="1100" dirty="0"/>
          </a:p>
        </p:txBody>
      </p:sp>
      <p:sp>
        <p:nvSpPr>
          <p:cNvPr id="3" name="Text 1"/>
          <p:cNvSpPr/>
          <p:nvPr>
            <p:ph idx="103" type="title" hasCustomPrompt="1"/>
          </p:nvPr>
        </p:nvSpPr>
        <p:spPr>
          <a:xfrm>
            <a:off x="685800" y="749808"/>
            <a:ext cx="10820095" cy="731520"/>
          </a:xfrm>
          <a:prstGeom prst="rect">
            <a:avLst/>
          </a:prstGeom>
          <a:noFill/>
          <a:ln/>
        </p:spPr>
        <p:txBody>
          <a:bodyPr wrap="square" lIns="0" tIns="0" rIns="0" bIns="0" rtlCol="0" anchor="t"/>
          <a:lstStyle/>
          <a:p>
            <a:pPr algn="l" indent="0" marL="0">
              <a:buNone/>
            </a:pPr>
            <a:r>
              <a:rPr lang="en-US" sz="3000" b="1" dirty="0">
                <a:solidFill>
                  <a:schemeClr val="tx1"/>
                </a:solidFill>
                <a:latin typeface="Inter" pitchFamily="34" charset="0"/>
                <a:ea typeface="Inter" pitchFamily="34" charset="-122"/>
                <a:cs typeface="Inter" pitchFamily="34" charset="-120"/>
              </a:rPr>
              <a:t>More than listings. A trust-aware rental experience</a:t>
            </a:r>
            <a:endParaRPr lang="en-US" sz="3000" dirty="0"/>
          </a:p>
        </p:txBody>
      </p:sp>
      <p:sp>
        <p:nvSpPr>
          <p:cNvPr id="4" name="Shape 2"/>
          <p:cNvSpPr/>
          <p:nvPr/>
        </p:nvSpPr>
        <p:spPr>
          <a:xfrm>
            <a:off x="685800" y="1691640"/>
            <a:ext cx="512064" cy="512064"/>
          </a:xfrm>
          <a:prstGeom prst="ellipse">
            <a:avLst/>
          </a:prstGeom>
          <a:solidFill>
            <a:schemeClr val="tx2"/>
          </a:solidFill>
          <a:ln/>
        </p:spPr>
      </p:sp>
      <p:pic>
        <p:nvPicPr>
          <p:cNvPr id="5" name="Image 0" descr="/home/claude/work/assets/pin_gold.png">    </p:cNvPr>
          <p:cNvPicPr>
            <a:picLocks noChangeAspect="1"/>
          </p:cNvPicPr>
          <p:nvPr/>
        </p:nvPicPr>
        <p:blipFill>
          <a:blip r:embed="rId1"/>
          <a:stretch>
            <a:fillRect/>
          </a:stretch>
        </p:blipFill>
        <p:spPr>
          <a:xfrm>
            <a:off x="824057" y="1829897"/>
            <a:ext cx="235549" cy="235549"/>
          </a:xfrm>
          <a:prstGeom prst="rect">
            <a:avLst/>
          </a:prstGeom>
        </p:spPr>
      </p:pic>
      <p:sp>
        <p:nvSpPr>
          <p:cNvPr id="6" name="Text 3"/>
          <p:cNvSpPr txBox="1"/>
          <p:nvPr/>
        </p:nvSpPr>
        <p:spPr>
          <a:xfrm>
            <a:off x="1417320" y="1691640"/>
            <a:ext cx="4526280" cy="274320"/>
          </a:xfrm>
          <a:prstGeom prst="rect">
            <a:avLst/>
          </a:prstGeom>
          <a:noFill/>
          <a:ln/>
        </p:spPr>
        <p:txBody>
          <a:bodyPr wrap="square" lIns="0" tIns="0" rIns="0" bIns="0" rtlCol="0" anchor="ctr"/>
          <a:lstStyle/>
          <a:p>
            <a:pPr indent="0" marL="0">
              <a:buNone/>
            </a:pPr>
            <a:r>
              <a:rPr lang="en-US" sz="1300" b="1" spc="200" kern="0" dirty="0">
                <a:solidFill>
                  <a:schemeClr val="tx1"/>
                </a:solidFill>
                <a:latin typeface="Inter" pitchFamily="34" charset="0"/>
                <a:ea typeface="Inter" pitchFamily="34" charset="-122"/>
                <a:cs typeface="Inter" pitchFamily="34" charset="-120"/>
              </a:rPr>
              <a:t>LOCATION-RELEVANT DISCOVERY</a:t>
            </a:r>
            <a:endParaRPr lang="en-US" sz="1300" dirty="0"/>
          </a:p>
        </p:txBody>
      </p:sp>
      <p:sp>
        <p:nvSpPr>
          <p:cNvPr id="7" name="Text 4"/>
          <p:cNvSpPr txBox="1"/>
          <p:nvPr/>
        </p:nvSpPr>
        <p:spPr>
          <a:xfrm>
            <a:off x="1417320" y="2020824"/>
            <a:ext cx="4526280" cy="658368"/>
          </a:xfrm>
          <a:prstGeom prst="rect">
            <a:avLst/>
          </a:prstGeom>
          <a:noFill/>
          <a:ln/>
        </p:spPr>
        <p:txBody>
          <a:bodyPr wrap="square" lIns="0" tIns="0" rIns="0" bIns="0" rtlCol="0" anchor="t"/>
          <a:lstStyle/>
          <a:p>
            <a:pPr indent="0" marL="0">
              <a:buNone/>
            </a:pPr>
            <a:r>
              <a:rPr lang="en-US" sz="1300" dirty="0">
                <a:solidFill>
                  <a:schemeClr val="accent3"/>
                </a:solidFill>
                <a:latin typeface="Inter" pitchFamily="34" charset="0"/>
                <a:ea typeface="Inter" pitchFamily="34" charset="-122"/>
                <a:cs typeface="Inter" pitchFamily="34" charset="-120"/>
              </a:rPr>
              <a:t>Search around a meaningful destination, such as a college or workplace, with a radius and personal preferences.</a:t>
            </a:r>
            <a:endParaRPr lang="en-US" sz="1300" dirty="0"/>
          </a:p>
        </p:txBody>
      </p:sp>
      <p:sp>
        <p:nvSpPr>
          <p:cNvPr id="8" name="chip"/>
          <p:cNvSpPr/>
          <p:nvPr/>
        </p:nvSpPr>
        <p:spPr>
          <a:xfrm>
            <a:off x="1417320" y="2715768"/>
            <a:ext cx="2935224" cy="256032"/>
          </a:xfrm>
          <a:prstGeom prst="roundRect">
            <a:avLst>
              <a:gd name="adj" fmla="val 50000"/>
            </a:avLst>
          </a:prstGeom>
          <a:solidFill>
            <a:schemeClr val="bg1"/>
          </a:solidFill>
          <a:ln w="9525">
            <a:solidFill>
              <a:schemeClr val="accent4"/>
            </a:solidFill>
            <a:prstDash val="solid"/>
          </a:ln>
        </p:spPr>
      </p:sp>
      <p:sp>
        <p:nvSpPr>
          <p:cNvPr id="9" name="Text 6"/>
          <p:cNvSpPr txBox="1"/>
          <p:nvPr/>
        </p:nvSpPr>
        <p:spPr>
          <a:xfrm>
            <a:off x="1417320" y="2715768"/>
            <a:ext cx="2935224" cy="256032"/>
          </a:xfrm>
          <a:prstGeom prst="rect">
            <a:avLst/>
          </a:prstGeom>
          <a:noFill/>
          <a:ln/>
        </p:spPr>
        <p:txBody>
          <a:bodyPr wrap="square" lIns="0" tIns="0" rIns="0" bIns="0" rtlCol="0" anchor="ctr"/>
          <a:lstStyle/>
          <a:p>
            <a:pPr algn="ctr" indent="0" marL="0">
              <a:buNone/>
            </a:pPr>
            <a:r>
              <a:rPr lang="en-US" sz="850" b="1" spc="120" kern="0" dirty="0">
                <a:solidFill>
                  <a:schemeClr val="tx1"/>
                </a:solidFill>
                <a:latin typeface="Inter" pitchFamily="34" charset="0"/>
                <a:ea typeface="Inter" pitchFamily="34" charset="-122"/>
                <a:cs typeface="Inter" pitchFamily="34" charset="-120"/>
              </a:rPr>
              <a:t>IN PROTOTYPE · ONE TEST DESTINATION</a:t>
            </a:r>
            <a:endParaRPr lang="en-US" sz="850" dirty="0"/>
          </a:p>
        </p:txBody>
      </p:sp>
      <p:sp>
        <p:nvSpPr>
          <p:cNvPr id="10" name="Shape 7"/>
          <p:cNvSpPr/>
          <p:nvPr/>
        </p:nvSpPr>
        <p:spPr>
          <a:xfrm>
            <a:off x="685800" y="3172968"/>
            <a:ext cx="512064" cy="512064"/>
          </a:xfrm>
          <a:prstGeom prst="ellipse">
            <a:avLst/>
          </a:prstGeom>
          <a:solidFill>
            <a:schemeClr val="tx2"/>
          </a:solidFill>
          <a:ln/>
        </p:spPr>
      </p:sp>
      <p:pic>
        <p:nvPicPr>
          <p:cNvPr id="11" name="Image 1" descr="/home/claude/work/assets/verify_gold.png">    </p:cNvPr>
          <p:cNvPicPr>
            <a:picLocks noChangeAspect="1"/>
          </p:cNvPicPr>
          <p:nvPr/>
        </p:nvPicPr>
        <p:blipFill>
          <a:blip r:embed="rId2"/>
          <a:stretch>
            <a:fillRect/>
          </a:stretch>
        </p:blipFill>
        <p:spPr>
          <a:xfrm>
            <a:off x="824057" y="3311225"/>
            <a:ext cx="235549" cy="235549"/>
          </a:xfrm>
          <a:prstGeom prst="rect">
            <a:avLst/>
          </a:prstGeom>
        </p:spPr>
      </p:pic>
      <p:sp>
        <p:nvSpPr>
          <p:cNvPr id="12" name="Text 8"/>
          <p:cNvSpPr txBox="1"/>
          <p:nvPr/>
        </p:nvSpPr>
        <p:spPr>
          <a:xfrm>
            <a:off x="1417320" y="3172968"/>
            <a:ext cx="4526280" cy="274320"/>
          </a:xfrm>
          <a:prstGeom prst="rect">
            <a:avLst/>
          </a:prstGeom>
          <a:noFill/>
          <a:ln/>
        </p:spPr>
        <p:txBody>
          <a:bodyPr wrap="square" lIns="0" tIns="0" rIns="0" bIns="0" rtlCol="0" anchor="ctr"/>
          <a:lstStyle/>
          <a:p>
            <a:pPr indent="0" marL="0">
              <a:buNone/>
            </a:pPr>
            <a:r>
              <a:rPr lang="en-US" sz="1300" b="1" spc="200" kern="0" dirty="0">
                <a:solidFill>
                  <a:schemeClr val="tx1"/>
                </a:solidFill>
                <a:latin typeface="Inter" pitchFamily="34" charset="0"/>
                <a:ea typeface="Inter" pitchFamily="34" charset="-122"/>
                <a:cs typeface="Inter" pitchFamily="34" charset="-120"/>
              </a:rPr>
              <a:t>TRUST-CENTRED DESIGN</a:t>
            </a:r>
            <a:endParaRPr lang="en-US" sz="1300" dirty="0"/>
          </a:p>
        </p:txBody>
      </p:sp>
      <p:sp>
        <p:nvSpPr>
          <p:cNvPr id="13" name="Text 9"/>
          <p:cNvSpPr txBox="1"/>
          <p:nvPr/>
        </p:nvSpPr>
        <p:spPr>
          <a:xfrm>
            <a:off x="1417320" y="3502152"/>
            <a:ext cx="4526280" cy="658368"/>
          </a:xfrm>
          <a:prstGeom prst="rect">
            <a:avLst/>
          </a:prstGeom>
          <a:noFill/>
          <a:ln/>
        </p:spPr>
        <p:txBody>
          <a:bodyPr wrap="square" lIns="0" tIns="0" rIns="0" bIns="0" rtlCol="0" anchor="t"/>
          <a:lstStyle/>
          <a:p>
            <a:pPr indent="0" marL="0">
              <a:buNone/>
            </a:pPr>
            <a:r>
              <a:rPr lang="en-US" sz="1300" dirty="0">
                <a:solidFill>
                  <a:schemeClr val="accent3"/>
                </a:solidFill>
                <a:latin typeface="Inter" pitchFamily="34" charset="0"/>
                <a:ea typeface="Inter" pitchFamily="34" charset="-122"/>
                <a:cs typeface="Inter" pitchFamily="34" charset="-120"/>
              </a:rPr>
              <a:t>Four separate checks (owner identity, authority to list, listing accuracy, availability) instead of one vague badge.</a:t>
            </a:r>
            <a:endParaRPr lang="en-US" sz="1300" dirty="0"/>
          </a:p>
        </p:txBody>
      </p:sp>
      <p:sp>
        <p:nvSpPr>
          <p:cNvPr id="14" name="chip"/>
          <p:cNvSpPr/>
          <p:nvPr/>
        </p:nvSpPr>
        <p:spPr>
          <a:xfrm>
            <a:off x="1417320" y="4197096"/>
            <a:ext cx="3235147" cy="256032"/>
          </a:xfrm>
          <a:prstGeom prst="roundRect">
            <a:avLst>
              <a:gd name="adj" fmla="val 50000"/>
            </a:avLst>
          </a:prstGeom>
          <a:solidFill>
            <a:schemeClr val="bg1"/>
          </a:solidFill>
          <a:ln w="9525">
            <a:solidFill>
              <a:schemeClr val="accent4"/>
            </a:solidFill>
            <a:prstDash val="solid"/>
          </a:ln>
        </p:spPr>
      </p:sp>
      <p:sp>
        <p:nvSpPr>
          <p:cNvPr id="15" name="Text 11"/>
          <p:cNvSpPr txBox="1"/>
          <p:nvPr/>
        </p:nvSpPr>
        <p:spPr>
          <a:xfrm>
            <a:off x="1417320" y="4197096"/>
            <a:ext cx="3235147" cy="256032"/>
          </a:xfrm>
          <a:prstGeom prst="rect">
            <a:avLst/>
          </a:prstGeom>
          <a:noFill/>
          <a:ln/>
        </p:spPr>
        <p:txBody>
          <a:bodyPr wrap="square" lIns="0" tIns="0" rIns="0" bIns="0" rtlCol="0" anchor="ctr"/>
          <a:lstStyle/>
          <a:p>
            <a:pPr algn="ctr" indent="0" marL="0">
              <a:buNone/>
            </a:pPr>
            <a:r>
              <a:rPr lang="en-US" sz="850" b="1" spc="120" kern="0" dirty="0">
                <a:solidFill>
                  <a:schemeClr val="tx1"/>
                </a:solidFill>
                <a:latin typeface="Inter" pitchFamily="34" charset="0"/>
                <a:ea typeface="Inter" pitchFamily="34" charset="-122"/>
                <a:cs typeface="Inter" pitchFamily="34" charset="-120"/>
              </a:rPr>
              <a:t>DEMO IN PROTOTYPE · REAL CHECKS PLANNED</a:t>
            </a:r>
            <a:endParaRPr lang="en-US" sz="850" dirty="0"/>
          </a:p>
        </p:txBody>
      </p:sp>
      <p:sp>
        <p:nvSpPr>
          <p:cNvPr id="16" name="Shape 12"/>
          <p:cNvSpPr/>
          <p:nvPr/>
        </p:nvSpPr>
        <p:spPr>
          <a:xfrm>
            <a:off x="685800" y="4654296"/>
            <a:ext cx="512064" cy="512064"/>
          </a:xfrm>
          <a:prstGeom prst="ellipse">
            <a:avLst/>
          </a:prstGeom>
          <a:solidFill>
            <a:schemeClr val="tx2"/>
          </a:solidFill>
          <a:ln/>
        </p:spPr>
      </p:sp>
      <p:pic>
        <p:nvPicPr>
          <p:cNvPr id="17" name="Image 2" descr="/home/claude/work/assets/route_gold.png">    </p:cNvPr>
          <p:cNvPicPr>
            <a:picLocks noChangeAspect="1"/>
          </p:cNvPicPr>
          <p:nvPr/>
        </p:nvPicPr>
        <p:blipFill>
          <a:blip r:embed="rId3"/>
          <a:stretch>
            <a:fillRect/>
          </a:stretch>
        </p:blipFill>
        <p:spPr>
          <a:xfrm>
            <a:off x="824057" y="4792553"/>
            <a:ext cx="235549" cy="235549"/>
          </a:xfrm>
          <a:prstGeom prst="rect">
            <a:avLst/>
          </a:prstGeom>
        </p:spPr>
      </p:pic>
      <p:sp>
        <p:nvSpPr>
          <p:cNvPr id="18" name="Text 13"/>
          <p:cNvSpPr txBox="1"/>
          <p:nvPr/>
        </p:nvSpPr>
        <p:spPr>
          <a:xfrm>
            <a:off x="1417320" y="4654296"/>
            <a:ext cx="4526280" cy="274320"/>
          </a:xfrm>
          <a:prstGeom prst="rect">
            <a:avLst/>
          </a:prstGeom>
          <a:noFill/>
          <a:ln/>
        </p:spPr>
        <p:txBody>
          <a:bodyPr wrap="square" lIns="0" tIns="0" rIns="0" bIns="0" rtlCol="0" anchor="ctr"/>
          <a:lstStyle/>
          <a:p>
            <a:pPr indent="0" marL="0">
              <a:buNone/>
            </a:pPr>
            <a:r>
              <a:rPr lang="en-US" sz="1300" b="1" spc="200" kern="0" dirty="0">
                <a:solidFill>
                  <a:schemeClr val="tx1"/>
                </a:solidFill>
                <a:latin typeface="Inter" pitchFamily="34" charset="0"/>
                <a:ea typeface="Inter" pitchFamily="34" charset="-122"/>
                <a:cs typeface="Inter" pitchFamily="34" charset="-120"/>
              </a:rPr>
              <a:t>A CONNECTED RENTAL JOURNEY</a:t>
            </a:r>
            <a:endParaRPr lang="en-US" sz="1300" dirty="0"/>
          </a:p>
        </p:txBody>
      </p:sp>
      <p:sp>
        <p:nvSpPr>
          <p:cNvPr id="19" name="Text 14"/>
          <p:cNvSpPr txBox="1"/>
          <p:nvPr/>
        </p:nvSpPr>
        <p:spPr>
          <a:xfrm>
            <a:off x="1417320" y="4983480"/>
            <a:ext cx="4526280" cy="658368"/>
          </a:xfrm>
          <a:prstGeom prst="rect">
            <a:avLst/>
          </a:prstGeom>
          <a:noFill/>
          <a:ln/>
        </p:spPr>
        <p:txBody>
          <a:bodyPr wrap="square" lIns="0" tIns="0" rIns="0" bIns="0" rtlCol="0" anchor="t"/>
          <a:lstStyle/>
          <a:p>
            <a:pPr indent="0" marL="0">
              <a:buNone/>
            </a:pPr>
            <a:r>
              <a:rPr lang="en-US" sz="1300" dirty="0">
                <a:solidFill>
                  <a:schemeClr val="accent3"/>
                </a:solidFill>
                <a:latin typeface="Inter" pitchFamily="34" charset="0"/>
                <a:ea typeface="Inter" pitchFamily="34" charset="-122"/>
                <a:cs typeface="Inter" pitchFamily="34" charset="-120"/>
              </a:rPr>
              <a:t>Discovery, visit requests and owner follow-up in one shared flow, extended only as later stages become real.</a:t>
            </a:r>
            <a:endParaRPr lang="en-US" sz="1300" dirty="0"/>
          </a:p>
        </p:txBody>
      </p:sp>
      <p:sp>
        <p:nvSpPr>
          <p:cNvPr id="20" name="chip"/>
          <p:cNvSpPr/>
          <p:nvPr/>
        </p:nvSpPr>
        <p:spPr>
          <a:xfrm>
            <a:off x="1417320" y="5678424"/>
            <a:ext cx="3235147" cy="256032"/>
          </a:xfrm>
          <a:prstGeom prst="roundRect">
            <a:avLst>
              <a:gd name="adj" fmla="val 50000"/>
            </a:avLst>
          </a:prstGeom>
          <a:solidFill>
            <a:schemeClr val="bg1"/>
          </a:solidFill>
          <a:ln w="9525">
            <a:solidFill>
              <a:schemeClr val="accent4"/>
            </a:solidFill>
            <a:prstDash val="solid"/>
          </a:ln>
        </p:spPr>
      </p:sp>
      <p:sp>
        <p:nvSpPr>
          <p:cNvPr id="21" name="Text 16"/>
          <p:cNvSpPr txBox="1"/>
          <p:nvPr/>
        </p:nvSpPr>
        <p:spPr>
          <a:xfrm>
            <a:off x="1417320" y="5678424"/>
            <a:ext cx="3235147" cy="256032"/>
          </a:xfrm>
          <a:prstGeom prst="rect">
            <a:avLst/>
          </a:prstGeom>
          <a:noFill/>
          <a:ln/>
        </p:spPr>
        <p:txBody>
          <a:bodyPr wrap="square" lIns="0" tIns="0" rIns="0" bIns="0" rtlCol="0" anchor="ctr"/>
          <a:lstStyle/>
          <a:p>
            <a:pPr algn="ctr" indent="0" marL="0">
              <a:buNone/>
            </a:pPr>
            <a:r>
              <a:rPr lang="en-US" sz="850" b="1" spc="120" kern="0" dirty="0">
                <a:solidFill>
                  <a:schemeClr val="tx1"/>
                </a:solidFill>
                <a:latin typeface="Inter" pitchFamily="34" charset="0"/>
                <a:ea typeface="Inter" pitchFamily="34" charset="-122"/>
                <a:cs typeface="Inter" pitchFamily="34" charset="-120"/>
              </a:rPr>
              <a:t>PARTLY IN PROTOTYPE · LIFECYCLE PLANNED</a:t>
            </a:r>
            <a:endParaRPr lang="en-US" sz="850" dirty="0"/>
          </a:p>
        </p:txBody>
      </p:sp>
      <p:pic>
        <p:nvPicPr>
          <p:cNvPr id="22" name="Image 3" descr="Prototype trust breakdown with four demo checks">    </p:cNvPr>
          <p:cNvPicPr>
            <a:picLocks noChangeAspect="1"/>
          </p:cNvPicPr>
          <p:nvPr/>
        </p:nvPicPr>
        <p:blipFill>
          <a:blip r:embed="rId4"/>
          <a:stretch>
            <a:fillRect/>
          </a:stretch>
        </p:blipFill>
        <p:spPr>
          <a:xfrm>
            <a:off x="6355080" y="1691640"/>
            <a:ext cx="5150815" cy="2961719"/>
          </a:xfrm>
          <a:prstGeom prst="rect">
            <a:avLst/>
          </a:prstGeom>
        </p:spPr>
      </p:pic>
      <p:sp>
        <p:nvSpPr>
          <p:cNvPr id="23" name="Text 17"/>
          <p:cNvSpPr txBox="1"/>
          <p:nvPr/>
        </p:nvSpPr>
        <p:spPr>
          <a:xfrm>
            <a:off x="6355080" y="4726511"/>
            <a:ext cx="5150815" cy="274320"/>
          </a:xfrm>
          <a:prstGeom prst="rect">
            <a:avLst/>
          </a:prstGeom>
          <a:noFill/>
          <a:ln/>
        </p:spPr>
        <p:txBody>
          <a:bodyPr wrap="square" lIns="0" tIns="0" rIns="0" bIns="0" rtlCol="0" anchor="t"/>
          <a:lstStyle/>
          <a:p>
            <a:pPr indent="0" marL="0">
              <a:buNone/>
            </a:pPr>
            <a:r>
              <a:rPr lang="en-US" sz="950" dirty="0">
                <a:solidFill>
                  <a:schemeClr val="accent3"/>
                </a:solidFill>
                <a:latin typeface="Inter" pitchFamily="34" charset="0"/>
                <a:ea typeface="Inter" pitchFamily="34" charset="-122"/>
                <a:cs typeface="Inter" pitchFamily="34" charset="-120"/>
              </a:rPr>
              <a:t>Prototype screen: four separate checks, labelled (demo). Nothing is really verified.</a:t>
            </a:r>
            <a:endParaRPr lang="en-US" sz="950" dirty="0"/>
          </a:p>
        </p:txBody>
      </p:sp>
      <p:sp>
        <p:nvSpPr>
          <p:cNvPr id="24" name="Real check box"/>
          <p:cNvSpPr/>
          <p:nvPr/>
        </p:nvSpPr>
        <p:spPr>
          <a:xfrm>
            <a:off x="6355080" y="5138928"/>
            <a:ext cx="5150815" cy="1024128"/>
          </a:xfrm>
          <a:prstGeom prst="rect">
            <a:avLst/>
          </a:prstGeom>
          <a:solidFill>
            <a:schemeClr val="tx2"/>
          </a:solidFill>
          <a:ln/>
        </p:spPr>
      </p:sp>
      <p:sp>
        <p:nvSpPr>
          <p:cNvPr id="25" name="Text 19"/>
          <p:cNvSpPr txBox="1"/>
          <p:nvPr/>
        </p:nvSpPr>
        <p:spPr>
          <a:xfrm>
            <a:off x="6629400" y="5303520"/>
            <a:ext cx="4602175" cy="228600"/>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WHAT A REAL CHECK WOULD REQUIRE</a:t>
            </a:r>
            <a:endParaRPr lang="en-US" sz="1000" dirty="0"/>
          </a:p>
        </p:txBody>
      </p:sp>
      <p:sp>
        <p:nvSpPr>
          <p:cNvPr id="26" name="Text 20"/>
          <p:cNvSpPr txBox="1"/>
          <p:nvPr/>
        </p:nvSpPr>
        <p:spPr>
          <a:xfrm>
            <a:off x="6629400" y="5550408"/>
            <a:ext cx="4602175" cy="548640"/>
          </a:xfrm>
          <a:prstGeom prst="rect">
            <a:avLst/>
          </a:prstGeom>
          <a:noFill/>
          <a:ln/>
        </p:spPr>
        <p:txBody>
          <a:bodyPr wrap="square" lIns="0" tIns="0" rIns="0" bIns="0" rtlCol="0" anchor="t"/>
          <a:lstStyle/>
          <a:p>
            <a:pPr indent="0" marL="0">
              <a:buNone/>
            </a:pPr>
            <a:r>
              <a:rPr lang="en-US" sz="1350" dirty="0">
                <a:solidFill>
                  <a:schemeClr val="bg2"/>
                </a:solidFill>
                <a:latin typeface="Inter" pitchFamily="34" charset="0"/>
                <a:ea typeface="Inter" pitchFamily="34" charset="-122"/>
                <a:cs typeface="Inter" pitchFamily="34" charset="-120"/>
              </a:rPr>
              <a:t>Defined procedures · supporting evidence · transparency for renters · clear ownership of the process</a:t>
            </a:r>
            <a:endParaRPr lang="en-US" sz="1350" dirty="0"/>
          </a:p>
        </p:txBody>
      </p:sp>
      <p:sp>
        <p:nvSpPr>
          <p:cNvPr id="25" name="Slide Number Placeholder 0"/>
          <p:cNvSpPr>
            <a:spLocks noGrp="1"/>
          </p:cNvSpPr>
          <p:nvPr>
            <p:ph type="sldNum" sz="quarter" idx="4294967295"/>
          </p:nvPr>
        </p:nvSpPr>
        <p:spPr>
          <a:xfrm>
            <a:off x="10957255" y="6355080"/>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685800" y="438912"/>
            <a:ext cx="82296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BUSINESS MODEL · PROPOSED</a:t>
            </a:r>
            <a:endParaRPr lang="en-US" sz="1100" dirty="0"/>
          </a:p>
        </p:txBody>
      </p:sp>
      <p:sp>
        <p:nvSpPr>
          <p:cNvPr id="3" name="Text 1"/>
          <p:cNvSpPr/>
          <p:nvPr>
            <p:ph idx="103" type="title" hasCustomPrompt="1"/>
          </p:nvPr>
        </p:nvSpPr>
        <p:spPr>
          <a:xfrm>
            <a:off x="685800" y="749808"/>
            <a:ext cx="10820095" cy="731520"/>
          </a:xfrm>
          <a:prstGeom prst="rect">
            <a:avLst/>
          </a:prstGeom>
          <a:noFill/>
          <a:ln/>
        </p:spPr>
        <p:txBody>
          <a:bodyPr wrap="square" lIns="0" tIns="0" rIns="0" bIns="0" rtlCol="0" anchor="t"/>
          <a:lstStyle/>
          <a:p>
            <a:pPr algn="l" indent="0" marL="0">
              <a:buNone/>
            </a:pPr>
            <a:r>
              <a:rPr lang="en-US" sz="3000" b="1" dirty="0">
                <a:solidFill>
                  <a:schemeClr val="tx1"/>
                </a:solidFill>
                <a:latin typeface="Inter" pitchFamily="34" charset="0"/>
                <a:ea typeface="Inter" pitchFamily="34" charset="-122"/>
                <a:cs typeface="Inter" pitchFamily="34" charset="-120"/>
              </a:rPr>
              <a:t>Creating value for both sides of the rental market</a:t>
            </a:r>
            <a:endParaRPr lang="en-US" sz="3000" dirty="0"/>
          </a:p>
        </p:txBody>
      </p:sp>
      <p:sp>
        <p:nvSpPr>
          <p:cNvPr id="4" name="Shape 2"/>
          <p:cNvSpPr/>
          <p:nvPr/>
        </p:nvSpPr>
        <p:spPr>
          <a:xfrm>
            <a:off x="685800" y="1645920"/>
            <a:ext cx="3749040" cy="2103120"/>
          </a:xfrm>
          <a:prstGeom prst="rect">
            <a:avLst/>
          </a:prstGeom>
          <a:solidFill>
            <a:schemeClr val="bg1"/>
          </a:solidFill>
          <a:ln w="9525">
            <a:solidFill>
              <a:schemeClr val="accent4"/>
            </a:solidFill>
            <a:prstDash val="solid"/>
          </a:ln>
        </p:spPr>
      </p:sp>
      <p:pic>
        <p:nvPicPr>
          <p:cNvPr id="5" name="Image 0" descr="/home/claude/work/assets/users_gold.png">    </p:cNvPr>
          <p:cNvPicPr>
            <a:picLocks noChangeAspect="1"/>
          </p:cNvPicPr>
          <p:nvPr/>
        </p:nvPicPr>
        <p:blipFill>
          <a:blip r:embed="rId1"/>
          <a:stretch>
            <a:fillRect/>
          </a:stretch>
        </p:blipFill>
        <p:spPr>
          <a:xfrm>
            <a:off x="1005840" y="1965960"/>
            <a:ext cx="411480" cy="411480"/>
          </a:xfrm>
          <a:prstGeom prst="rect">
            <a:avLst/>
          </a:prstGeom>
        </p:spPr>
      </p:pic>
      <p:sp>
        <p:nvSpPr>
          <p:cNvPr id="6" name="Text 3"/>
          <p:cNvSpPr txBox="1"/>
          <p:nvPr/>
        </p:nvSpPr>
        <p:spPr>
          <a:xfrm>
            <a:off x="1005840" y="2487168"/>
            <a:ext cx="3108960" cy="365760"/>
          </a:xfrm>
          <a:prstGeom prst="rect">
            <a:avLst/>
          </a:prstGeom>
          <a:noFill/>
          <a:ln/>
        </p:spPr>
        <p:txBody>
          <a:bodyPr wrap="square" lIns="0" tIns="0" rIns="0" bIns="0" rtlCol="0" anchor="ctr"/>
          <a:lstStyle/>
          <a:p>
            <a:pPr indent="0" marL="0">
              <a:buNone/>
            </a:pPr>
            <a:r>
              <a:rPr lang="en-US" sz="1900" b="1" dirty="0">
                <a:solidFill>
                  <a:schemeClr val="tx1"/>
                </a:solidFill>
                <a:latin typeface="Inter" pitchFamily="34" charset="0"/>
                <a:ea typeface="Inter" pitchFamily="34" charset="-122"/>
                <a:cs typeface="Inter" pitchFamily="34" charset="-120"/>
              </a:rPr>
              <a:t>Tenants</a:t>
            </a:r>
            <a:endParaRPr lang="en-US" sz="1900" dirty="0"/>
          </a:p>
        </p:txBody>
      </p:sp>
      <p:sp>
        <p:nvSpPr>
          <p:cNvPr id="7" name="Text 4"/>
          <p:cNvSpPr txBox="1"/>
          <p:nvPr/>
        </p:nvSpPr>
        <p:spPr>
          <a:xfrm>
            <a:off x="1005840" y="2889504"/>
            <a:ext cx="3108960" cy="685800"/>
          </a:xfrm>
          <a:prstGeom prst="rect">
            <a:avLst/>
          </a:prstGeom>
          <a:noFill/>
          <a:ln/>
        </p:spPr>
        <p:txBody>
          <a:bodyPr wrap="square" lIns="0" tIns="0" rIns="0" bIns="0" rtlCol="0" anchor="t"/>
          <a:lstStyle/>
          <a:p>
            <a:pPr indent="0" marL="0">
              <a:buNone/>
            </a:pPr>
            <a:r>
              <a:rPr lang="en-US" sz="1350" dirty="0">
                <a:solidFill>
                  <a:schemeClr val="accent3"/>
                </a:solidFill>
                <a:latin typeface="Inter" pitchFamily="34" charset="0"/>
                <a:ea typeface="Inter" pitchFamily="34" charset="-122"/>
                <a:cs typeface="Inter" pitchFamily="34" charset="-120"/>
              </a:rPr>
              <a:t>Relevant homes near the places that matter, clearer information and a guided search</a:t>
            </a:r>
            <a:endParaRPr lang="en-US" sz="1350" dirty="0"/>
          </a:p>
        </p:txBody>
      </p:sp>
      <p:sp>
        <p:nvSpPr>
          <p:cNvPr id="8" name="Shape 5"/>
          <p:cNvSpPr/>
          <p:nvPr/>
        </p:nvSpPr>
        <p:spPr>
          <a:xfrm>
            <a:off x="7756855" y="1645920"/>
            <a:ext cx="3749040" cy="2103120"/>
          </a:xfrm>
          <a:prstGeom prst="rect">
            <a:avLst/>
          </a:prstGeom>
          <a:solidFill>
            <a:schemeClr val="bg1"/>
          </a:solidFill>
          <a:ln w="9525">
            <a:solidFill>
              <a:schemeClr val="accent4"/>
            </a:solidFill>
            <a:prstDash val="solid"/>
          </a:ln>
        </p:spPr>
      </p:sp>
      <p:pic>
        <p:nvPicPr>
          <p:cNvPr id="9" name="Image 1" descr="/home/claude/work/assets/owner_gold.png">    </p:cNvPr>
          <p:cNvPicPr>
            <a:picLocks noChangeAspect="1"/>
          </p:cNvPicPr>
          <p:nvPr/>
        </p:nvPicPr>
        <p:blipFill>
          <a:blip r:embed="rId2"/>
          <a:stretch>
            <a:fillRect/>
          </a:stretch>
        </p:blipFill>
        <p:spPr>
          <a:xfrm>
            <a:off x="8076895" y="1965960"/>
            <a:ext cx="411480" cy="411480"/>
          </a:xfrm>
          <a:prstGeom prst="rect">
            <a:avLst/>
          </a:prstGeom>
        </p:spPr>
      </p:pic>
      <p:sp>
        <p:nvSpPr>
          <p:cNvPr id="10" name="Text 6"/>
          <p:cNvSpPr txBox="1"/>
          <p:nvPr/>
        </p:nvSpPr>
        <p:spPr>
          <a:xfrm>
            <a:off x="8076895" y="2487168"/>
            <a:ext cx="3108960" cy="365760"/>
          </a:xfrm>
          <a:prstGeom prst="rect">
            <a:avLst/>
          </a:prstGeom>
          <a:noFill/>
          <a:ln/>
        </p:spPr>
        <p:txBody>
          <a:bodyPr wrap="square" lIns="0" tIns="0" rIns="0" bIns="0" rtlCol="0" anchor="ctr"/>
          <a:lstStyle/>
          <a:p>
            <a:pPr indent="0" marL="0">
              <a:buNone/>
            </a:pPr>
            <a:r>
              <a:rPr lang="en-US" sz="1900" b="1" dirty="0">
                <a:solidFill>
                  <a:schemeClr val="tx1"/>
                </a:solidFill>
                <a:latin typeface="Inter" pitchFamily="34" charset="0"/>
                <a:ea typeface="Inter" pitchFamily="34" charset="-122"/>
                <a:cs typeface="Inter" pitchFamily="34" charset="-120"/>
              </a:rPr>
              <a:t>Property owners</a:t>
            </a:r>
            <a:endParaRPr lang="en-US" sz="1900" dirty="0"/>
          </a:p>
        </p:txBody>
      </p:sp>
      <p:sp>
        <p:nvSpPr>
          <p:cNvPr id="11" name="Text 7"/>
          <p:cNvSpPr txBox="1"/>
          <p:nvPr/>
        </p:nvSpPr>
        <p:spPr>
          <a:xfrm>
            <a:off x="8076895" y="2889504"/>
            <a:ext cx="3108960" cy="685800"/>
          </a:xfrm>
          <a:prstGeom prst="rect">
            <a:avLst/>
          </a:prstGeom>
          <a:noFill/>
          <a:ln/>
        </p:spPr>
        <p:txBody>
          <a:bodyPr wrap="square" lIns="0" tIns="0" rIns="0" bIns="0" rtlCol="0" anchor="t"/>
          <a:lstStyle/>
          <a:p>
            <a:pPr indent="0" marL="0">
              <a:buNone/>
            </a:pPr>
            <a:r>
              <a:rPr lang="en-US" sz="1350" dirty="0">
                <a:solidFill>
                  <a:schemeClr val="accent3"/>
                </a:solidFill>
                <a:latin typeface="Inter" pitchFamily="34" charset="0"/>
                <a:ea typeface="Inter" pitchFamily="34" charset="-122"/>
                <a:cs typeface="Inter" pitchFamily="34" charset="-120"/>
              </a:rPr>
              <a:t>Suitable enquiries, organised listings and visit requests in one place</a:t>
            </a:r>
            <a:endParaRPr lang="en-US" sz="1350" dirty="0"/>
          </a:p>
        </p:txBody>
      </p:sp>
      <p:sp>
        <p:nvSpPr>
          <p:cNvPr id="12" name="Shape 8"/>
          <p:cNvSpPr/>
          <p:nvPr/>
        </p:nvSpPr>
        <p:spPr>
          <a:xfrm>
            <a:off x="5135728" y="1737360"/>
            <a:ext cx="1920240" cy="1920240"/>
          </a:xfrm>
          <a:prstGeom prst="roundRect">
            <a:avLst>
              <a:gd name="adj" fmla="val 7143"/>
            </a:avLst>
          </a:prstGeom>
          <a:solidFill>
            <a:schemeClr val="tx2"/>
          </a:solidFill>
          <a:ln/>
        </p:spPr>
      </p:sp>
      <p:pic>
        <p:nvPicPr>
          <p:cNvPr id="13" name="Image 2" descr="/home/claude/work/assets/mark_gold.png">    </p:cNvPr>
          <p:cNvPicPr>
            <a:picLocks noChangeAspect="1"/>
          </p:cNvPicPr>
          <p:nvPr/>
        </p:nvPicPr>
        <p:blipFill>
          <a:blip r:embed="rId3"/>
          <a:stretch>
            <a:fillRect/>
          </a:stretch>
        </p:blipFill>
        <p:spPr>
          <a:xfrm>
            <a:off x="5821528" y="2029968"/>
            <a:ext cx="548640" cy="548640"/>
          </a:xfrm>
          <a:prstGeom prst="rect">
            <a:avLst/>
          </a:prstGeom>
        </p:spPr>
      </p:pic>
      <p:sp>
        <p:nvSpPr>
          <p:cNvPr id="14" name="Text 9"/>
          <p:cNvSpPr txBox="1"/>
          <p:nvPr/>
        </p:nvSpPr>
        <p:spPr>
          <a:xfrm>
            <a:off x="5135728" y="2697480"/>
            <a:ext cx="1920240" cy="347472"/>
          </a:xfrm>
          <a:prstGeom prst="rect">
            <a:avLst/>
          </a:prstGeom>
          <a:noFill/>
          <a:ln/>
        </p:spPr>
        <p:txBody>
          <a:bodyPr wrap="square" lIns="0" tIns="0" rIns="0" bIns="0" rtlCol="0" anchor="ctr"/>
          <a:lstStyle/>
          <a:p>
            <a:pPr algn="ctr" indent="0" marL="0">
              <a:buNone/>
            </a:pPr>
            <a:r>
              <a:rPr lang="en-US" sz="1700" b="1" spc="500" kern="0" dirty="0">
                <a:solidFill>
                  <a:schemeClr val="bg1"/>
                </a:solidFill>
                <a:latin typeface="Inter" pitchFamily="34" charset="0"/>
                <a:ea typeface="Inter" pitchFamily="34" charset="-122"/>
                <a:cs typeface="Inter" pitchFamily="34" charset="-120"/>
              </a:rPr>
              <a:t>NIVORA</a:t>
            </a:r>
            <a:endParaRPr lang="en-US" sz="1700" dirty="0"/>
          </a:p>
        </p:txBody>
      </p:sp>
      <p:sp>
        <p:nvSpPr>
          <p:cNvPr id="15" name="Text 10"/>
          <p:cNvSpPr txBox="1"/>
          <p:nvPr/>
        </p:nvSpPr>
        <p:spPr>
          <a:xfrm>
            <a:off x="5135728" y="3044952"/>
            <a:ext cx="1920240" cy="274320"/>
          </a:xfrm>
          <a:prstGeom prst="rect">
            <a:avLst/>
          </a:prstGeom>
          <a:noFill/>
          <a:ln/>
        </p:spPr>
        <p:txBody>
          <a:bodyPr wrap="square" lIns="0" tIns="0" rIns="0" bIns="0" rtlCol="0" anchor="ctr"/>
          <a:lstStyle/>
          <a:p>
            <a:pPr algn="ctr" indent="0" marL="0">
              <a:buNone/>
            </a:pPr>
            <a:r>
              <a:rPr lang="en-US" sz="1100" dirty="0">
                <a:solidFill>
                  <a:schemeClr val="accent2"/>
                </a:solidFill>
                <a:latin typeface="Inter" pitchFamily="34" charset="0"/>
                <a:ea typeface="Inter" pitchFamily="34" charset="-122"/>
                <a:cs typeface="Inter" pitchFamily="34" charset="-120"/>
              </a:rPr>
              <a:t>connects both sides</a:t>
            </a:r>
            <a:endParaRPr lang="en-US" sz="1100" dirty="0"/>
          </a:p>
        </p:txBody>
      </p:sp>
      <p:sp>
        <p:nvSpPr>
          <p:cNvPr id="16" name="Shape 11"/>
          <p:cNvSpPr/>
          <p:nvPr/>
        </p:nvSpPr>
        <p:spPr>
          <a:xfrm>
            <a:off x="4544568" y="2697480"/>
            <a:ext cx="481432" cy="0"/>
          </a:xfrm>
          <a:prstGeom prst="line">
            <a:avLst/>
          </a:prstGeom>
          <a:noFill/>
          <a:ln w="19050">
            <a:solidFill>
              <a:schemeClr val="accent1"/>
            </a:solidFill>
            <a:prstDash val="solid"/>
            <a:headEnd type="triangle"/>
            <a:tailEnd type="triangle"/>
          </a:ln>
        </p:spPr>
      </p:sp>
      <p:sp>
        <p:nvSpPr>
          <p:cNvPr id="17" name="Shape 12"/>
          <p:cNvSpPr/>
          <p:nvPr/>
        </p:nvSpPr>
        <p:spPr>
          <a:xfrm>
            <a:off x="7165696" y="2697480"/>
            <a:ext cx="481432" cy="0"/>
          </a:xfrm>
          <a:prstGeom prst="line">
            <a:avLst/>
          </a:prstGeom>
          <a:noFill/>
          <a:ln w="19050">
            <a:solidFill>
              <a:schemeClr val="accent1"/>
            </a:solidFill>
            <a:prstDash val="solid"/>
            <a:headEnd type="triangle"/>
            <a:tailEnd type="triangle"/>
          </a:ln>
        </p:spPr>
      </p:sp>
      <p:sp>
        <p:nvSpPr>
          <p:cNvPr id="18" name="Shape 13"/>
          <p:cNvSpPr/>
          <p:nvPr/>
        </p:nvSpPr>
        <p:spPr>
          <a:xfrm>
            <a:off x="685800" y="4023360"/>
            <a:ext cx="5272888" cy="1554480"/>
          </a:xfrm>
          <a:prstGeom prst="rect">
            <a:avLst/>
          </a:prstGeom>
          <a:solidFill>
            <a:schemeClr val="bg1"/>
          </a:solidFill>
          <a:ln w="9525">
            <a:solidFill>
              <a:schemeClr val="accent4"/>
            </a:solidFill>
            <a:prstDash val="solid"/>
          </a:ln>
        </p:spPr>
      </p:sp>
      <p:sp>
        <p:nvSpPr>
          <p:cNvPr id="19" name="Text 14"/>
          <p:cNvSpPr txBox="1"/>
          <p:nvPr/>
        </p:nvSpPr>
        <p:spPr>
          <a:xfrm>
            <a:off x="1005840" y="4251960"/>
            <a:ext cx="4632808" cy="219456"/>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REVENUE STREAM 1</a:t>
            </a:r>
            <a:endParaRPr lang="en-US" sz="1000" dirty="0"/>
          </a:p>
        </p:txBody>
      </p:sp>
      <p:sp>
        <p:nvSpPr>
          <p:cNvPr id="20" name="Text 15"/>
          <p:cNvSpPr txBox="1"/>
          <p:nvPr/>
        </p:nvSpPr>
        <p:spPr>
          <a:xfrm>
            <a:off x="1005840" y="4498848"/>
            <a:ext cx="4632808" cy="365760"/>
          </a:xfrm>
          <a:prstGeom prst="rect">
            <a:avLst/>
          </a:prstGeom>
          <a:noFill/>
          <a:ln/>
        </p:spPr>
        <p:txBody>
          <a:bodyPr wrap="square" lIns="0" tIns="0" rIns="0" bIns="0" rtlCol="0" anchor="ctr"/>
          <a:lstStyle/>
          <a:p>
            <a:pPr indent="0" marL="0">
              <a:buNone/>
            </a:pPr>
            <a:r>
              <a:rPr lang="en-US" sz="1800" b="1" dirty="0">
                <a:solidFill>
                  <a:schemeClr val="tx1"/>
                </a:solidFill>
                <a:latin typeface="Inter" pitchFamily="34" charset="0"/>
                <a:ea typeface="Inter" pitchFamily="34" charset="-122"/>
                <a:cs typeface="Inter" pitchFamily="34" charset="-120"/>
              </a:rPr>
              <a:t>Transaction-linked fee</a:t>
            </a:r>
            <a:endParaRPr lang="en-US" sz="1800" dirty="0"/>
          </a:p>
        </p:txBody>
      </p:sp>
      <p:sp>
        <p:nvSpPr>
          <p:cNvPr id="21" name="Text 16"/>
          <p:cNvSpPr txBox="1"/>
          <p:nvPr/>
        </p:nvSpPr>
        <p:spPr>
          <a:xfrm>
            <a:off x="1005840" y="4919472"/>
            <a:ext cx="4632808" cy="548640"/>
          </a:xfrm>
          <a:prstGeom prst="rect">
            <a:avLst/>
          </a:prstGeom>
          <a:noFill/>
          <a:ln/>
        </p:spPr>
        <p:txBody>
          <a:bodyPr wrap="square" lIns="0" tIns="0" rIns="0" bIns="0" rtlCol="0" anchor="t"/>
          <a:lstStyle/>
          <a:p>
            <a:pPr indent="0" marL="0">
              <a:buNone/>
            </a:pPr>
            <a:r>
              <a:rPr lang="en-US" sz="1300" dirty="0">
                <a:solidFill>
                  <a:schemeClr val="accent3"/>
                </a:solidFill>
                <a:latin typeface="Inter" pitchFamily="34" charset="0"/>
                <a:ea typeface="Inter" pitchFamily="34" charset="-122"/>
                <a:cs typeface="Inter" pitchFamily="34" charset="-120"/>
              </a:rPr>
              <a:t>A clearly disclosed fee tied to a completed rental, only if it proves legally appropriate and workable in practice.</a:t>
            </a:r>
            <a:endParaRPr lang="en-US" sz="1300" dirty="0"/>
          </a:p>
        </p:txBody>
      </p:sp>
      <p:sp>
        <p:nvSpPr>
          <p:cNvPr id="22" name="Shape 17"/>
          <p:cNvSpPr/>
          <p:nvPr/>
        </p:nvSpPr>
        <p:spPr>
          <a:xfrm>
            <a:off x="6233008" y="4023360"/>
            <a:ext cx="5272888" cy="1554480"/>
          </a:xfrm>
          <a:prstGeom prst="rect">
            <a:avLst/>
          </a:prstGeom>
          <a:solidFill>
            <a:schemeClr val="bg1"/>
          </a:solidFill>
          <a:ln w="9525">
            <a:solidFill>
              <a:schemeClr val="accent4"/>
            </a:solidFill>
            <a:prstDash val="solid"/>
          </a:ln>
        </p:spPr>
      </p:sp>
      <p:sp>
        <p:nvSpPr>
          <p:cNvPr id="23" name="Text 18"/>
          <p:cNvSpPr txBox="1"/>
          <p:nvPr/>
        </p:nvSpPr>
        <p:spPr>
          <a:xfrm>
            <a:off x="6553048" y="4251960"/>
            <a:ext cx="4632808" cy="219456"/>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REVENUE STREAM 2</a:t>
            </a:r>
            <a:endParaRPr lang="en-US" sz="1000" dirty="0"/>
          </a:p>
        </p:txBody>
      </p:sp>
      <p:sp>
        <p:nvSpPr>
          <p:cNvPr id="24" name="Text 19"/>
          <p:cNvSpPr txBox="1"/>
          <p:nvPr/>
        </p:nvSpPr>
        <p:spPr>
          <a:xfrm>
            <a:off x="6553048" y="4498848"/>
            <a:ext cx="4632808" cy="365760"/>
          </a:xfrm>
          <a:prstGeom prst="rect">
            <a:avLst/>
          </a:prstGeom>
          <a:noFill/>
          <a:ln/>
        </p:spPr>
        <p:txBody>
          <a:bodyPr wrap="square" lIns="0" tIns="0" rIns="0" bIns="0" rtlCol="0" anchor="ctr"/>
          <a:lstStyle/>
          <a:p>
            <a:pPr indent="0" marL="0">
              <a:buNone/>
            </a:pPr>
            <a:r>
              <a:rPr lang="en-US" sz="1800" b="1" dirty="0">
                <a:solidFill>
                  <a:schemeClr val="tx1"/>
                </a:solidFill>
                <a:latin typeface="Inter" pitchFamily="34" charset="0"/>
                <a:ea typeface="Inter" pitchFamily="34" charset="-122"/>
                <a:cs typeface="Inter" pitchFamily="34" charset="-120"/>
              </a:rPr>
              <a:t>Optional owner tools</a:t>
            </a:r>
            <a:endParaRPr lang="en-US" sz="1800" dirty="0"/>
          </a:p>
        </p:txBody>
      </p:sp>
      <p:sp>
        <p:nvSpPr>
          <p:cNvPr id="25" name="Text 20"/>
          <p:cNvSpPr txBox="1"/>
          <p:nvPr/>
        </p:nvSpPr>
        <p:spPr>
          <a:xfrm>
            <a:off x="6553048" y="4919472"/>
            <a:ext cx="4632808" cy="548640"/>
          </a:xfrm>
          <a:prstGeom prst="rect">
            <a:avLst/>
          </a:prstGeom>
          <a:noFill/>
          <a:ln/>
        </p:spPr>
        <p:txBody>
          <a:bodyPr wrap="square" lIns="0" tIns="0" rIns="0" bIns="0" rtlCol="0" anchor="t"/>
          <a:lstStyle/>
          <a:p>
            <a:pPr indent="0" marL="0">
              <a:buNone/>
            </a:pPr>
            <a:r>
              <a:rPr lang="en-US" sz="1300" dirty="0">
                <a:solidFill>
                  <a:schemeClr val="accent3"/>
                </a:solidFill>
                <a:latin typeface="Inter" pitchFamily="34" charset="0"/>
                <a:ea typeface="Inter" pitchFamily="34" charset="-122"/>
                <a:cs typeface="Inter" pitchFamily="34" charset="-120"/>
              </a:rPr>
              <a:t>Paid conveniences such as listing management or rent and maintenance tracking, only where owners see real value.</a:t>
            </a:r>
            <a:endParaRPr lang="en-US" sz="1300" dirty="0"/>
          </a:p>
        </p:txBody>
      </p:sp>
      <p:sp>
        <p:nvSpPr>
          <p:cNvPr id="26" name="Text 21"/>
          <p:cNvSpPr txBox="1"/>
          <p:nvPr/>
        </p:nvSpPr>
        <p:spPr>
          <a:xfrm>
            <a:off x="685800" y="5760720"/>
            <a:ext cx="10820095" cy="365760"/>
          </a:xfrm>
          <a:prstGeom prst="rect">
            <a:avLst/>
          </a:prstGeom>
          <a:noFill/>
          <a:ln/>
        </p:spPr>
        <p:txBody>
          <a:bodyPr wrap="square" lIns="0" tIns="0" rIns="0" bIns="0" rtlCol="0" anchor="ctr"/>
          <a:lstStyle/>
          <a:p>
            <a:pPr indent="0" marL="0">
              <a:buNone/>
            </a:pPr>
            <a:r>
              <a:rPr lang="en-US" sz="1250" b="1" dirty="0">
                <a:solidFill>
                  <a:schemeClr val="tx1"/>
                </a:solidFill>
                <a:latin typeface="Inter" pitchFamily="34" charset="0"/>
                <a:ea typeface="Inter" pitchFamily="34" charset="-122"/>
                <a:cs typeface="Inter" pitchFamily="34" charset="-120"/>
              </a:rPr>
              <a:t>Validate before pricing:  </a:t>
            </a:r>
            <a:pPr indent="0" marL="0">
              <a:buNone/>
            </a:pPr>
            <a:r>
              <a:rPr lang="en-US" sz="1250" dirty="0">
                <a:solidFill>
                  <a:schemeClr val="accent3"/>
                </a:solidFill>
                <a:latin typeface="Inter" pitchFamily="34" charset="0"/>
                <a:ea typeface="Inter" pitchFamily="34" charset="-122"/>
                <a:cs typeface="Inter" pitchFamily="34" charset="-120"/>
              </a:rPr>
              <a:t>willingness to pay · unit economics · acquisition cost · cost of delivering verification. No prices or revenue are claimed.</a:t>
            </a:r>
            <a:endParaRPr lang="en-US" sz="1250" dirty="0"/>
          </a:p>
        </p:txBody>
      </p:sp>
      <p:sp>
        <p:nvSpPr>
          <p:cNvPr id="25" name="Slide Number Placeholder 0"/>
          <p:cNvSpPr>
            <a:spLocks noGrp="1"/>
          </p:cNvSpPr>
          <p:nvPr>
            <p:ph type="sldNum" sz="quarter" idx="4294967295"/>
          </p:nvPr>
        </p:nvSpPr>
        <p:spPr>
          <a:xfrm>
            <a:off x="10957255" y="6355080"/>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685800" y="438912"/>
            <a:ext cx="82296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MARKET &amp; GO-TO-MARKET</a:t>
            </a:r>
            <a:endParaRPr lang="en-US" sz="1100" dirty="0"/>
          </a:p>
        </p:txBody>
      </p:sp>
      <p:sp>
        <p:nvSpPr>
          <p:cNvPr id="3" name="Text 1"/>
          <p:cNvSpPr/>
          <p:nvPr>
            <p:ph idx="103" type="title" hasCustomPrompt="1"/>
          </p:nvPr>
        </p:nvSpPr>
        <p:spPr>
          <a:xfrm>
            <a:off x="685800" y="749808"/>
            <a:ext cx="10820095" cy="731520"/>
          </a:xfrm>
          <a:prstGeom prst="rect">
            <a:avLst/>
          </a:prstGeom>
          <a:noFill/>
          <a:ln/>
        </p:spPr>
        <p:txBody>
          <a:bodyPr wrap="square" lIns="0" tIns="0" rIns="0" bIns="0" rtlCol="0" anchor="t"/>
          <a:lstStyle/>
          <a:p>
            <a:pPr algn="l" indent="0" marL="0">
              <a:buNone/>
            </a:pPr>
            <a:r>
              <a:rPr lang="en-US" sz="3000" b="1" dirty="0">
                <a:solidFill>
                  <a:schemeClr val="tx1"/>
                </a:solidFill>
                <a:latin typeface="Inter" pitchFamily="34" charset="0"/>
                <a:ea typeface="Inter" pitchFamily="34" charset="-122"/>
                <a:cs typeface="Inter" pitchFamily="34" charset="-120"/>
              </a:rPr>
              <a:t>Start focused. Validate locally. Expand with evidence</a:t>
            </a:r>
            <a:endParaRPr lang="en-US" sz="3000" dirty="0"/>
          </a:p>
        </p:txBody>
      </p:sp>
      <p:sp>
        <p:nvSpPr>
          <p:cNvPr id="4" name="Context card"/>
          <p:cNvSpPr/>
          <p:nvPr/>
        </p:nvSpPr>
        <p:spPr>
          <a:xfrm>
            <a:off x="685800" y="1691640"/>
            <a:ext cx="3429000" cy="4434840"/>
          </a:xfrm>
          <a:prstGeom prst="rect">
            <a:avLst/>
          </a:prstGeom>
          <a:solidFill>
            <a:schemeClr val="tx2"/>
          </a:solidFill>
          <a:ln/>
        </p:spPr>
      </p:sp>
      <p:sp>
        <p:nvSpPr>
          <p:cNvPr id="5" name="Text 3"/>
          <p:cNvSpPr txBox="1"/>
          <p:nvPr/>
        </p:nvSpPr>
        <p:spPr>
          <a:xfrm>
            <a:off x="1005840" y="1984248"/>
            <a:ext cx="2788920" cy="228600"/>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NATIONAL CONTEXT</a:t>
            </a:r>
            <a:endParaRPr lang="en-US" sz="1000" dirty="0"/>
          </a:p>
        </p:txBody>
      </p:sp>
      <p:sp>
        <p:nvSpPr>
          <p:cNvPr id="6" name="Text 4"/>
          <p:cNvSpPr txBox="1"/>
          <p:nvPr/>
        </p:nvSpPr>
        <p:spPr>
          <a:xfrm>
            <a:off x="1005840" y="2313432"/>
            <a:ext cx="2788920" cy="548640"/>
          </a:xfrm>
          <a:prstGeom prst="rect">
            <a:avLst/>
          </a:prstGeom>
          <a:noFill/>
          <a:ln/>
        </p:spPr>
        <p:txBody>
          <a:bodyPr wrap="square" lIns="0" tIns="0" rIns="0" bIns="0" rtlCol="0" anchor="ctr"/>
          <a:lstStyle/>
          <a:p>
            <a:pPr indent="0" marL="0">
              <a:buNone/>
            </a:pPr>
            <a:r>
              <a:rPr lang="en-US" sz="3200" b="1" dirty="0">
                <a:solidFill>
                  <a:schemeClr val="accent2"/>
                </a:solidFill>
                <a:latin typeface="Inter" pitchFamily="34" charset="0"/>
                <a:ea typeface="Inter" pitchFamily="34" charset="-122"/>
                <a:cs typeface="Inter" pitchFamily="34" charset="-120"/>
              </a:rPr>
              <a:t>2.17 crore</a:t>
            </a:r>
            <a:endParaRPr lang="en-US" sz="3200" dirty="0"/>
          </a:p>
        </p:txBody>
      </p:sp>
      <p:sp>
        <p:nvSpPr>
          <p:cNvPr id="7" name="Text 5"/>
          <p:cNvSpPr txBox="1"/>
          <p:nvPr/>
        </p:nvSpPr>
        <p:spPr>
          <a:xfrm>
            <a:off x="1005840" y="2880360"/>
            <a:ext cx="2788920" cy="457200"/>
          </a:xfrm>
          <a:prstGeom prst="rect">
            <a:avLst/>
          </a:prstGeom>
          <a:noFill/>
          <a:ln/>
        </p:spPr>
        <p:txBody>
          <a:bodyPr wrap="square" lIns="0" tIns="0" rIns="0" bIns="0" rtlCol="0" anchor="t"/>
          <a:lstStyle/>
          <a:p>
            <a:pPr indent="0" marL="0">
              <a:buNone/>
            </a:pPr>
            <a:r>
              <a:rPr lang="en-US" sz="1300" dirty="0">
                <a:solidFill>
                  <a:schemeClr val="bg2"/>
                </a:solidFill>
                <a:latin typeface="Inter" pitchFamily="34" charset="0"/>
                <a:ea typeface="Inter" pitchFamily="34" charset="-122"/>
                <a:cs typeface="Inter" pitchFamily="34" charset="-120"/>
              </a:rPr>
              <a:t>urban households rented their home</a:t>
            </a:r>
            <a:endParaRPr lang="en-US" sz="1300" dirty="0"/>
          </a:p>
        </p:txBody>
      </p:sp>
      <p:sp>
        <p:nvSpPr>
          <p:cNvPr id="8" name="Text 6"/>
          <p:cNvSpPr txBox="1"/>
          <p:nvPr/>
        </p:nvSpPr>
        <p:spPr>
          <a:xfrm>
            <a:off x="1005840" y="3337560"/>
            <a:ext cx="2788920" cy="347472"/>
          </a:xfrm>
          <a:prstGeom prst="rect">
            <a:avLst/>
          </a:prstGeom>
          <a:noFill/>
          <a:ln/>
        </p:spPr>
        <p:txBody>
          <a:bodyPr wrap="square" lIns="0" tIns="0" rIns="0" bIns="0" rtlCol="0" anchor="t"/>
          <a:lstStyle/>
          <a:p>
            <a:pPr indent="0" marL="0">
              <a:buNone/>
            </a:pPr>
            <a:r>
              <a:rPr lang="en-US" sz="850" dirty="0">
                <a:solidFill>
                  <a:schemeClr val="accent3"/>
                </a:solidFill>
                <a:latin typeface="Inter" pitchFamily="34" charset="0"/>
                <a:ea typeface="Inter" pitchFamily="34" charset="-122"/>
                <a:cs typeface="Inter" pitchFamily="34" charset="-120"/>
              </a:rPr>
              <a:t>Census 2011, via Knight Frank &amp; Khaitan &amp; Co. (2019)</a:t>
            </a:r>
            <a:endParaRPr lang="en-US" sz="850" dirty="0"/>
          </a:p>
        </p:txBody>
      </p:sp>
      <p:sp>
        <p:nvSpPr>
          <p:cNvPr id="9" name="Shape 7"/>
          <p:cNvSpPr/>
          <p:nvPr/>
        </p:nvSpPr>
        <p:spPr>
          <a:xfrm>
            <a:off x="1005840" y="3794760"/>
            <a:ext cx="2788920" cy="0"/>
          </a:xfrm>
          <a:prstGeom prst="line">
            <a:avLst/>
          </a:prstGeom>
          <a:noFill/>
          <a:ln w="9525">
            <a:solidFill>
              <a:srgbClr val="3A3935"/>
            </a:solidFill>
            <a:prstDash val="solid"/>
          </a:ln>
        </p:spPr>
      </p:sp>
      <p:sp>
        <p:nvSpPr>
          <p:cNvPr id="10" name="Text 8"/>
          <p:cNvSpPr txBox="1"/>
          <p:nvPr/>
        </p:nvSpPr>
        <p:spPr>
          <a:xfrm>
            <a:off x="1005840" y="3959352"/>
            <a:ext cx="2788920" cy="548640"/>
          </a:xfrm>
          <a:prstGeom prst="rect">
            <a:avLst/>
          </a:prstGeom>
          <a:noFill/>
          <a:ln/>
        </p:spPr>
        <p:txBody>
          <a:bodyPr wrap="square" lIns="0" tIns="0" rIns="0" bIns="0" rtlCol="0" anchor="ctr"/>
          <a:lstStyle/>
          <a:p>
            <a:pPr indent="0" marL="0">
              <a:buNone/>
            </a:pPr>
            <a:r>
              <a:rPr lang="en-US" sz="3200" b="1" dirty="0">
                <a:solidFill>
                  <a:schemeClr val="accent2"/>
                </a:solidFill>
                <a:latin typeface="Inter" pitchFamily="34" charset="0"/>
                <a:ea typeface="Inter" pitchFamily="34" charset="-122"/>
                <a:cs typeface="Inter" pitchFamily="34" charset="-120"/>
              </a:rPr>
              <a:t>4.33 crore</a:t>
            </a:r>
            <a:endParaRPr lang="en-US" sz="3200" dirty="0"/>
          </a:p>
        </p:txBody>
      </p:sp>
      <p:sp>
        <p:nvSpPr>
          <p:cNvPr id="11" name="Text 9"/>
          <p:cNvSpPr txBox="1"/>
          <p:nvPr/>
        </p:nvSpPr>
        <p:spPr>
          <a:xfrm>
            <a:off x="1005840" y="4526280"/>
            <a:ext cx="2788920" cy="457200"/>
          </a:xfrm>
          <a:prstGeom prst="rect">
            <a:avLst/>
          </a:prstGeom>
          <a:noFill/>
          <a:ln/>
        </p:spPr>
        <p:txBody>
          <a:bodyPr wrap="square" lIns="0" tIns="0" rIns="0" bIns="0" rtlCol="0" anchor="t"/>
          <a:lstStyle/>
          <a:p>
            <a:pPr indent="0" marL="0">
              <a:buNone/>
            </a:pPr>
            <a:r>
              <a:rPr lang="en-US" sz="1300" dirty="0">
                <a:solidFill>
                  <a:schemeClr val="bg2"/>
                </a:solidFill>
                <a:latin typeface="Inter" pitchFamily="34" charset="0"/>
                <a:ea typeface="Inter" pitchFamily="34" charset="-122"/>
                <a:cs typeface="Inter" pitchFamily="34" charset="-120"/>
              </a:rPr>
              <a:t>students enrolled in higher education</a:t>
            </a:r>
            <a:endParaRPr lang="en-US" sz="1300" dirty="0"/>
          </a:p>
        </p:txBody>
      </p:sp>
      <p:sp>
        <p:nvSpPr>
          <p:cNvPr id="12" name="Text 10"/>
          <p:cNvSpPr txBox="1"/>
          <p:nvPr/>
        </p:nvSpPr>
        <p:spPr>
          <a:xfrm>
            <a:off x="1005840" y="4983480"/>
            <a:ext cx="2788920" cy="201168"/>
          </a:xfrm>
          <a:prstGeom prst="rect">
            <a:avLst/>
          </a:prstGeom>
          <a:noFill/>
          <a:ln/>
        </p:spPr>
        <p:txBody>
          <a:bodyPr wrap="square" lIns="0" tIns="0" rIns="0" bIns="0" rtlCol="0" anchor="t"/>
          <a:lstStyle/>
          <a:p>
            <a:pPr indent="0" marL="0">
              <a:buNone/>
            </a:pPr>
            <a:r>
              <a:rPr lang="en-US" sz="850" dirty="0">
                <a:solidFill>
                  <a:schemeClr val="accent3"/>
                </a:solidFill>
                <a:latin typeface="Inter" pitchFamily="34" charset="0"/>
                <a:ea typeface="Inter" pitchFamily="34" charset="-122"/>
                <a:cs typeface="Inter" pitchFamily="34" charset="-120"/>
              </a:rPr>
              <a:t>AISHE 2021-22, Ministry of Education (2024)</a:t>
            </a:r>
            <a:endParaRPr lang="en-US" sz="850" dirty="0"/>
          </a:p>
        </p:txBody>
      </p:sp>
      <p:sp>
        <p:nvSpPr>
          <p:cNvPr id="13" name="Text 11"/>
          <p:cNvSpPr txBox="1"/>
          <p:nvPr/>
        </p:nvSpPr>
        <p:spPr>
          <a:xfrm>
            <a:off x="1005840" y="5394960"/>
            <a:ext cx="2788920" cy="502920"/>
          </a:xfrm>
          <a:prstGeom prst="rect">
            <a:avLst/>
          </a:prstGeom>
          <a:noFill/>
          <a:ln/>
        </p:spPr>
        <p:txBody>
          <a:bodyPr wrap="square" lIns="0" tIns="0" rIns="0" bIns="0" rtlCol="0" anchor="t"/>
          <a:lstStyle/>
          <a:p>
            <a:pPr indent="0" marL="0">
              <a:buNone/>
            </a:pPr>
            <a:r>
              <a:rPr lang="en-US" sz="950" i="1" dirty="0">
                <a:solidFill>
                  <a:schemeClr val="accent2"/>
                </a:solidFill>
                <a:latin typeface="Inter" pitchFamily="34" charset="0"/>
                <a:ea typeface="Inter" pitchFamily="34" charset="-122"/>
                <a:cs typeface="Inter" pitchFamily="34" charset="-120"/>
              </a:rPr>
              <a:t>Context only, not NIVORA’s addressable market. Figures differ in year and measure.</a:t>
            </a:r>
            <a:endParaRPr lang="en-US" sz="950" dirty="0"/>
          </a:p>
        </p:txBody>
      </p:sp>
      <p:sp>
        <p:nvSpPr>
          <p:cNvPr id="14" name="Shape 12"/>
          <p:cNvSpPr/>
          <p:nvPr/>
        </p:nvSpPr>
        <p:spPr>
          <a:xfrm>
            <a:off x="4654296" y="1847088"/>
            <a:ext cx="6613855" cy="0"/>
          </a:xfrm>
          <a:prstGeom prst="line">
            <a:avLst/>
          </a:prstGeom>
          <a:noFill/>
          <a:ln w="15875">
            <a:solidFill>
              <a:schemeClr val="accent1"/>
            </a:solidFill>
            <a:prstDash val="solid"/>
          </a:ln>
        </p:spPr>
      </p:sp>
      <p:sp>
        <p:nvSpPr>
          <p:cNvPr id="15" name="Shape 13"/>
          <p:cNvSpPr/>
          <p:nvPr/>
        </p:nvSpPr>
        <p:spPr>
          <a:xfrm>
            <a:off x="4526280" y="1719072"/>
            <a:ext cx="256032" cy="256032"/>
          </a:xfrm>
          <a:prstGeom prst="ellipse">
            <a:avLst/>
          </a:prstGeom>
          <a:solidFill>
            <a:schemeClr val="accent1"/>
          </a:solidFill>
          <a:ln w="15875">
            <a:solidFill>
              <a:schemeClr val="accent1"/>
            </a:solidFill>
            <a:prstDash val="solid"/>
          </a:ln>
        </p:spPr>
      </p:sp>
      <p:sp>
        <p:nvSpPr>
          <p:cNvPr id="16" name="Text 14"/>
          <p:cNvSpPr txBox="1"/>
          <p:nvPr/>
        </p:nvSpPr>
        <p:spPr>
          <a:xfrm>
            <a:off x="4526280" y="2148840"/>
            <a:ext cx="2174138" cy="219456"/>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PHASE 1</a:t>
            </a:r>
            <a:endParaRPr lang="en-US" sz="1000" dirty="0"/>
          </a:p>
        </p:txBody>
      </p:sp>
      <p:sp>
        <p:nvSpPr>
          <p:cNvPr id="17" name="Text 15"/>
          <p:cNvSpPr txBox="1"/>
          <p:nvPr/>
        </p:nvSpPr>
        <p:spPr>
          <a:xfrm>
            <a:off x="4526280" y="2404872"/>
            <a:ext cx="2174138" cy="566928"/>
          </a:xfrm>
          <a:prstGeom prst="rect">
            <a:avLst/>
          </a:prstGeom>
          <a:noFill/>
          <a:ln/>
        </p:spPr>
        <p:txBody>
          <a:bodyPr wrap="square" lIns="0" tIns="0" rIns="0" bIns="0" rtlCol="0" anchor="t"/>
          <a:lstStyle/>
          <a:p>
            <a:pPr indent="0" marL="0">
              <a:buNone/>
            </a:pPr>
            <a:r>
              <a:rPr lang="en-US" sz="1700" b="1" dirty="0">
                <a:solidFill>
                  <a:schemeClr val="tx1"/>
                </a:solidFill>
                <a:latin typeface="Inter" pitchFamily="34" charset="0"/>
                <a:ea typeface="Inter" pitchFamily="34" charset="-122"/>
                <a:cs typeface="Inter" pitchFamily="34" charset="-120"/>
              </a:rPr>
              <a:t>Focused Jaipur pilot</a:t>
            </a:r>
            <a:endParaRPr lang="en-US" sz="1700" dirty="0"/>
          </a:p>
        </p:txBody>
      </p:sp>
      <p:sp>
        <p:nvSpPr>
          <p:cNvPr id="18" name="Text 16"/>
          <p:cNvSpPr txBox="1"/>
          <p:nvPr/>
        </p:nvSpPr>
        <p:spPr>
          <a:xfrm>
            <a:off x="4526280" y="3017520"/>
            <a:ext cx="2174138" cy="16916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accent3"/>
                </a:solidFill>
                <a:latin typeface="Inter" pitchFamily="34" charset="0"/>
                <a:ea typeface="Inter" pitchFamily="34" charset="-122"/>
                <a:cs typeface="Inter" pitchFamily="34" charset="-120"/>
              </a:rPr>
              <a:t>Pick a few college or office clusters</a:t>
            </a:r>
            <a:endParaRPr lang="en-US" sz="1250" dirty="0"/>
          </a:p>
          <a:p>
            <a:pPr marL="152400" indent="-152400">
              <a:spcAft>
                <a:spcPts val="600"/>
              </a:spcAft>
              <a:buSzPct val="100000"/>
              <a:buChar char="•"/>
            </a:pPr>
            <a:r>
              <a:rPr lang="en-US" sz="1250" dirty="0">
                <a:solidFill>
                  <a:schemeClr val="accent3"/>
                </a:solidFill>
                <a:latin typeface="Inter" pitchFamily="34" charset="0"/>
                <a:ea typeface="Inter" pitchFamily="34" charset="-122"/>
                <a:cs typeface="Inter" pitchFamily="34" charset="-120"/>
              </a:rPr>
              <a:t>Onboard real owners and legitimate listings</a:t>
            </a:r>
            <a:endParaRPr lang="en-US" sz="1250" dirty="0"/>
          </a:p>
          <a:p>
            <a:pPr marL="152400" indent="-152400">
              <a:spcAft>
                <a:spcPts val="600"/>
              </a:spcAft>
              <a:buSzPct val="100000"/>
              <a:buChar char="•"/>
            </a:pPr>
            <a:r>
              <a:rPr lang="en-US" sz="1250" dirty="0">
                <a:solidFill>
                  <a:schemeClr val="accent3"/>
                </a:solidFill>
                <a:latin typeface="Inter" pitchFamily="34" charset="0"/>
                <a:ea typeface="Inter" pitchFamily="34" charset="-122"/>
                <a:cs typeface="Inter" pitchFamily="34" charset="-120"/>
              </a:rPr>
              <a:t>Test whether location-led search helps</a:t>
            </a:r>
            <a:endParaRPr lang="en-US" sz="1250" dirty="0"/>
          </a:p>
        </p:txBody>
      </p:sp>
      <p:sp>
        <p:nvSpPr>
          <p:cNvPr id="19" name="Shape 17"/>
          <p:cNvSpPr/>
          <p:nvPr/>
        </p:nvSpPr>
        <p:spPr>
          <a:xfrm>
            <a:off x="6929018" y="1719072"/>
            <a:ext cx="256032" cy="256032"/>
          </a:xfrm>
          <a:prstGeom prst="ellipse">
            <a:avLst/>
          </a:prstGeom>
          <a:solidFill>
            <a:schemeClr val="bg2"/>
          </a:solidFill>
          <a:ln w="15875">
            <a:solidFill>
              <a:schemeClr val="accent1"/>
            </a:solidFill>
            <a:prstDash val="solid"/>
          </a:ln>
        </p:spPr>
      </p:sp>
      <p:sp>
        <p:nvSpPr>
          <p:cNvPr id="20" name="Text 18"/>
          <p:cNvSpPr txBox="1"/>
          <p:nvPr/>
        </p:nvSpPr>
        <p:spPr>
          <a:xfrm>
            <a:off x="6929018" y="2148840"/>
            <a:ext cx="2174138" cy="219456"/>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PHASE 2</a:t>
            </a:r>
            <a:endParaRPr lang="en-US" sz="1000" dirty="0"/>
          </a:p>
        </p:txBody>
      </p:sp>
      <p:sp>
        <p:nvSpPr>
          <p:cNvPr id="21" name="Text 19"/>
          <p:cNvSpPr txBox="1"/>
          <p:nvPr/>
        </p:nvSpPr>
        <p:spPr>
          <a:xfrm>
            <a:off x="6929018" y="2404872"/>
            <a:ext cx="2174138" cy="566928"/>
          </a:xfrm>
          <a:prstGeom prst="rect">
            <a:avLst/>
          </a:prstGeom>
          <a:noFill/>
          <a:ln/>
        </p:spPr>
        <p:txBody>
          <a:bodyPr wrap="square" lIns="0" tIns="0" rIns="0" bIns="0" rtlCol="0" anchor="t"/>
          <a:lstStyle/>
          <a:p>
            <a:pPr indent="0" marL="0">
              <a:buNone/>
            </a:pPr>
            <a:r>
              <a:rPr lang="en-US" sz="1700" b="1" dirty="0">
                <a:solidFill>
                  <a:schemeClr val="tx1"/>
                </a:solidFill>
                <a:latin typeface="Inter" pitchFamily="34" charset="0"/>
                <a:ea typeface="Inter" pitchFamily="34" charset="-122"/>
                <a:cs typeface="Inter" pitchFamily="34" charset="-120"/>
              </a:rPr>
              <a:t>Validation</a:t>
            </a:r>
            <a:endParaRPr lang="en-US" sz="1700" dirty="0"/>
          </a:p>
        </p:txBody>
      </p:sp>
      <p:sp>
        <p:nvSpPr>
          <p:cNvPr id="22" name="Text 20"/>
          <p:cNvSpPr txBox="1"/>
          <p:nvPr/>
        </p:nvSpPr>
        <p:spPr>
          <a:xfrm>
            <a:off x="6929018" y="3017520"/>
            <a:ext cx="2174138" cy="16916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accent3"/>
                </a:solidFill>
                <a:latin typeface="Inter" pitchFamily="34" charset="0"/>
                <a:ea typeface="Inter" pitchFamily="34" charset="-122"/>
                <a:cs typeface="Inter" pitchFamily="34" charset="-120"/>
              </a:rPr>
              <a:t>Gather tenant and owner feedback</a:t>
            </a:r>
            <a:endParaRPr lang="en-US" sz="1250" dirty="0"/>
          </a:p>
          <a:p>
            <a:pPr marL="152400" indent="-152400">
              <a:spcAft>
                <a:spcPts val="600"/>
              </a:spcAft>
              <a:buSzPct val="100000"/>
              <a:buChar char="•"/>
            </a:pPr>
            <a:r>
              <a:rPr lang="en-US" sz="1250" dirty="0">
                <a:solidFill>
                  <a:schemeClr val="accent3"/>
                </a:solidFill>
                <a:latin typeface="Inter" pitchFamily="34" charset="0"/>
                <a:ea typeface="Inter" pitchFamily="34" charset="-122"/>
                <a:cs typeface="Inter" pitchFamily="34" charset="-120"/>
              </a:rPr>
              <a:t>Measure relevance, enquiries and verification pass rate</a:t>
            </a:r>
            <a:endParaRPr lang="en-US" sz="1250" dirty="0"/>
          </a:p>
          <a:p>
            <a:pPr marL="152400" indent="-152400">
              <a:spcAft>
                <a:spcPts val="600"/>
              </a:spcAft>
              <a:buSzPct val="100000"/>
              <a:buChar char="•"/>
            </a:pPr>
            <a:r>
              <a:rPr lang="en-US" sz="1250" dirty="0">
                <a:solidFill>
                  <a:schemeClr val="accent3"/>
                </a:solidFill>
                <a:latin typeface="Inter" pitchFamily="34" charset="0"/>
                <a:ea typeface="Inter" pitchFamily="34" charset="-122"/>
                <a:cs typeface="Inter" pitchFamily="34" charset="-120"/>
              </a:rPr>
              <a:t>Report only real pilot results</a:t>
            </a:r>
            <a:endParaRPr lang="en-US" sz="1250" dirty="0"/>
          </a:p>
        </p:txBody>
      </p:sp>
      <p:sp>
        <p:nvSpPr>
          <p:cNvPr id="23" name="Shape 21"/>
          <p:cNvSpPr/>
          <p:nvPr/>
        </p:nvSpPr>
        <p:spPr>
          <a:xfrm>
            <a:off x="9331757" y="1719072"/>
            <a:ext cx="256032" cy="256032"/>
          </a:xfrm>
          <a:prstGeom prst="ellipse">
            <a:avLst/>
          </a:prstGeom>
          <a:solidFill>
            <a:schemeClr val="bg2"/>
          </a:solidFill>
          <a:ln w="15875">
            <a:solidFill>
              <a:schemeClr val="accent1"/>
            </a:solidFill>
            <a:prstDash val="solid"/>
          </a:ln>
        </p:spPr>
      </p:sp>
      <p:sp>
        <p:nvSpPr>
          <p:cNvPr id="24" name="Text 22"/>
          <p:cNvSpPr txBox="1"/>
          <p:nvPr/>
        </p:nvSpPr>
        <p:spPr>
          <a:xfrm>
            <a:off x="9331757" y="2148840"/>
            <a:ext cx="2174138" cy="219456"/>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PHASE 3</a:t>
            </a:r>
            <a:endParaRPr lang="en-US" sz="1000" dirty="0"/>
          </a:p>
        </p:txBody>
      </p:sp>
      <p:sp>
        <p:nvSpPr>
          <p:cNvPr id="25" name="Text 23"/>
          <p:cNvSpPr txBox="1"/>
          <p:nvPr/>
        </p:nvSpPr>
        <p:spPr>
          <a:xfrm>
            <a:off x="9331757" y="2404872"/>
            <a:ext cx="2174138" cy="566928"/>
          </a:xfrm>
          <a:prstGeom prst="rect">
            <a:avLst/>
          </a:prstGeom>
          <a:noFill/>
          <a:ln/>
        </p:spPr>
        <p:txBody>
          <a:bodyPr wrap="square" lIns="0" tIns="0" rIns="0" bIns="0" rtlCol="0" anchor="t"/>
          <a:lstStyle/>
          <a:p>
            <a:pPr indent="0" marL="0">
              <a:buNone/>
            </a:pPr>
            <a:r>
              <a:rPr lang="en-US" sz="1700" b="1" dirty="0">
                <a:solidFill>
                  <a:schemeClr val="tx1"/>
                </a:solidFill>
                <a:latin typeface="Inter" pitchFamily="34" charset="0"/>
                <a:ea typeface="Inter" pitchFamily="34" charset="-122"/>
                <a:cs typeface="Inter" pitchFamily="34" charset="-120"/>
              </a:rPr>
              <a:t>Controlled expansion</a:t>
            </a:r>
            <a:endParaRPr lang="en-US" sz="1700" dirty="0"/>
          </a:p>
        </p:txBody>
      </p:sp>
      <p:sp>
        <p:nvSpPr>
          <p:cNvPr id="26" name="Text 24"/>
          <p:cNvSpPr txBox="1"/>
          <p:nvPr/>
        </p:nvSpPr>
        <p:spPr>
          <a:xfrm>
            <a:off x="9331757" y="3017520"/>
            <a:ext cx="2174138" cy="169164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chemeClr val="accent3"/>
                </a:solidFill>
                <a:latin typeface="Inter" pitchFamily="34" charset="0"/>
                <a:ea typeface="Inter" pitchFamily="34" charset="-122"/>
                <a:cs typeface="Inter" pitchFamily="34" charset="-120"/>
              </a:rPr>
              <a:t>Add localities or clusters one at a time</a:t>
            </a:r>
            <a:endParaRPr lang="en-US" sz="1250" dirty="0"/>
          </a:p>
          <a:p>
            <a:pPr marL="152400" indent="-152400">
              <a:spcAft>
                <a:spcPts val="600"/>
              </a:spcAft>
              <a:buSzPct val="100000"/>
              <a:buChar char="•"/>
            </a:pPr>
            <a:r>
              <a:rPr lang="en-US" sz="1250" dirty="0">
                <a:solidFill>
                  <a:schemeClr val="accent3"/>
                </a:solidFill>
                <a:latin typeface="Inter" pitchFamily="34" charset="0"/>
                <a:ea typeface="Inter" pitchFamily="34" charset="-122"/>
                <a:cs typeface="Inter" pitchFamily="34" charset="-120"/>
              </a:rPr>
              <a:t>Only with evidence of demand, listing quality and sustainable acquisition</a:t>
            </a:r>
            <a:endParaRPr lang="en-US" sz="1250" dirty="0"/>
          </a:p>
        </p:txBody>
      </p:sp>
      <p:sp>
        <p:nvSpPr>
          <p:cNvPr id="27" name="Shape 25"/>
          <p:cNvSpPr/>
          <p:nvPr/>
        </p:nvSpPr>
        <p:spPr>
          <a:xfrm>
            <a:off x="4526280" y="4846320"/>
            <a:ext cx="6979615" cy="1280160"/>
          </a:xfrm>
          <a:prstGeom prst="rect">
            <a:avLst/>
          </a:prstGeom>
          <a:solidFill>
            <a:schemeClr val="bg1"/>
          </a:solidFill>
          <a:ln w="9525">
            <a:solidFill>
              <a:schemeClr val="accent4"/>
            </a:solidFill>
            <a:prstDash val="solid"/>
          </a:ln>
        </p:spPr>
      </p:sp>
      <p:sp>
        <p:nvSpPr>
          <p:cNvPr id="28" name="Text 26"/>
          <p:cNvSpPr txBox="1"/>
          <p:nvPr/>
        </p:nvSpPr>
        <p:spPr>
          <a:xfrm>
            <a:off x="4800600" y="5029200"/>
            <a:ext cx="6430975" cy="219456"/>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HOW WE WILL SIZE JAIPUR</a:t>
            </a:r>
            <a:endParaRPr lang="en-US" sz="1000" dirty="0"/>
          </a:p>
        </p:txBody>
      </p:sp>
      <p:sp>
        <p:nvSpPr>
          <p:cNvPr id="29" name="Text 27"/>
          <p:cNvSpPr txBox="1"/>
          <p:nvPr/>
        </p:nvSpPr>
        <p:spPr>
          <a:xfrm>
            <a:off x="4800600" y="5303520"/>
            <a:ext cx="6430975" cy="731520"/>
          </a:xfrm>
          <a:prstGeom prst="rect">
            <a:avLst/>
          </a:prstGeom>
          <a:noFill/>
          <a:ln/>
        </p:spPr>
        <p:txBody>
          <a:bodyPr wrap="square" lIns="0" tIns="0" rIns="0" bIns="0" rtlCol="0" anchor="t"/>
          <a:lstStyle/>
          <a:p>
            <a:pPr indent="0" marL="0">
              <a:buNone/>
            </a:pPr>
            <a:r>
              <a:rPr lang="en-US" sz="1300" dirty="0">
                <a:solidFill>
                  <a:schemeClr val="tx1"/>
                </a:solidFill>
                <a:latin typeface="Inter" pitchFamily="34" charset="0"/>
                <a:ea typeface="Inter" pitchFamily="34" charset="-122"/>
                <a:cs typeface="Inter" pitchFamily="34" charset="-120"/>
              </a:rPr>
              <a:t>Map the chosen clusters → estimate renting students and professionals nearby → count listings we can genuinely onboard → measure reach during the pilot</a:t>
            </a:r>
            <a:endParaRPr lang="en-US" sz="1300" dirty="0"/>
          </a:p>
        </p:txBody>
      </p:sp>
      <p:sp>
        <p:nvSpPr>
          <p:cNvPr id="25" name="Slide Number Placeholder 0"/>
          <p:cNvSpPr>
            <a:spLocks noGrp="1"/>
          </p:cNvSpPr>
          <p:nvPr>
            <p:ph type="sldNum" sz="quarter" idx="4294967295"/>
          </p:nvPr>
        </p:nvSpPr>
        <p:spPr>
          <a:xfrm>
            <a:off x="10957255" y="6355080"/>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685800" y="438912"/>
            <a:ext cx="82296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EXECUTION &amp; ROADMAP</a:t>
            </a:r>
            <a:endParaRPr lang="en-US" sz="1100" dirty="0"/>
          </a:p>
        </p:txBody>
      </p:sp>
      <p:sp>
        <p:nvSpPr>
          <p:cNvPr id="3" name="Text 1"/>
          <p:cNvSpPr/>
          <p:nvPr>
            <p:ph idx="103" type="title" hasCustomPrompt="1"/>
          </p:nvPr>
        </p:nvSpPr>
        <p:spPr>
          <a:xfrm>
            <a:off x="685800" y="749808"/>
            <a:ext cx="10820095" cy="731520"/>
          </a:xfrm>
          <a:prstGeom prst="rect">
            <a:avLst/>
          </a:prstGeom>
          <a:noFill/>
          <a:ln/>
        </p:spPr>
        <p:txBody>
          <a:bodyPr wrap="square" lIns="0" tIns="0" rIns="0" bIns="0" rtlCol="0" anchor="t"/>
          <a:lstStyle/>
          <a:p>
            <a:pPr algn="l" indent="0" marL="0">
              <a:buNone/>
            </a:pPr>
            <a:r>
              <a:rPr lang="en-US" sz="3000" b="1" dirty="0">
                <a:solidFill>
                  <a:schemeClr val="tx1"/>
                </a:solidFill>
                <a:latin typeface="Inter" pitchFamily="34" charset="0"/>
                <a:ea typeface="Inter" pitchFamily="34" charset="-122"/>
                <a:cs typeface="Inter" pitchFamily="34" charset="-120"/>
              </a:rPr>
              <a:t>From a working prototype to a validated rental platform</a:t>
            </a:r>
            <a:endParaRPr lang="en-US" sz="3000" dirty="0"/>
          </a:p>
        </p:txBody>
      </p:sp>
      <p:sp>
        <p:nvSpPr>
          <p:cNvPr id="4" name="Today strip"/>
          <p:cNvSpPr/>
          <p:nvPr/>
        </p:nvSpPr>
        <p:spPr>
          <a:xfrm>
            <a:off x="685800" y="1600200"/>
            <a:ext cx="10820095" cy="960120"/>
          </a:xfrm>
          <a:prstGeom prst="rect">
            <a:avLst/>
          </a:prstGeom>
          <a:solidFill>
            <a:schemeClr val="tx2"/>
          </a:solidFill>
          <a:ln/>
        </p:spPr>
      </p:sp>
      <p:sp>
        <p:nvSpPr>
          <p:cNvPr id="5" name="Text 3"/>
          <p:cNvSpPr txBox="1"/>
          <p:nvPr/>
        </p:nvSpPr>
        <p:spPr>
          <a:xfrm>
            <a:off x="1005840" y="1783080"/>
            <a:ext cx="1371600" cy="219456"/>
          </a:xfrm>
          <a:prstGeom prst="rect">
            <a:avLst/>
          </a:prstGeom>
          <a:noFill/>
          <a:ln/>
        </p:spPr>
        <p:txBody>
          <a:bodyPr wrap="square" lIns="0" tIns="0" rIns="0" bIns="0" rtlCol="0" anchor="t"/>
          <a:lstStyle/>
          <a:p>
            <a:pPr indent="0" marL="0">
              <a:buNone/>
            </a:pPr>
            <a:r>
              <a:rPr lang="en-US" sz="1000" b="1" spc="300" kern="0" dirty="0">
                <a:solidFill>
                  <a:schemeClr val="accent1"/>
                </a:solidFill>
                <a:latin typeface="Inter" pitchFamily="34" charset="0"/>
                <a:ea typeface="Inter" pitchFamily="34" charset="-122"/>
                <a:cs typeface="Inter" pitchFamily="34" charset="-120"/>
              </a:rPr>
              <a:t>TODAY</a:t>
            </a:r>
            <a:endParaRPr lang="en-US" sz="1000" dirty="0"/>
          </a:p>
        </p:txBody>
      </p:sp>
      <p:sp>
        <p:nvSpPr>
          <p:cNvPr id="6" name="Text 4"/>
          <p:cNvSpPr txBox="1"/>
          <p:nvPr/>
        </p:nvSpPr>
        <p:spPr>
          <a:xfrm>
            <a:off x="1005840" y="2020824"/>
            <a:ext cx="2011680" cy="365760"/>
          </a:xfrm>
          <a:prstGeom prst="rect">
            <a:avLst/>
          </a:prstGeom>
          <a:noFill/>
          <a:ln/>
        </p:spPr>
        <p:txBody>
          <a:bodyPr wrap="square" lIns="0" tIns="0" rIns="0" bIns="0" rtlCol="0" anchor="ctr"/>
          <a:lstStyle/>
          <a:p>
            <a:pPr indent="0" marL="0">
              <a:buNone/>
            </a:pPr>
            <a:r>
              <a:rPr lang="en-US" sz="1600" b="1" dirty="0">
                <a:solidFill>
                  <a:schemeClr val="bg1"/>
                </a:solidFill>
                <a:latin typeface="Inter" pitchFamily="34" charset="0"/>
                <a:ea typeface="Inter" pitchFamily="34" charset="-122"/>
                <a:cs typeface="Inter" pitchFamily="34" charset="-120"/>
              </a:rPr>
              <a:t>Working prototype</a:t>
            </a:r>
            <a:endParaRPr lang="en-US" sz="1600" dirty="0"/>
          </a:p>
        </p:txBody>
      </p:sp>
      <p:sp>
        <p:nvSpPr>
          <p:cNvPr id="7" name="Text 5"/>
          <p:cNvSpPr txBox="1"/>
          <p:nvPr/>
        </p:nvSpPr>
        <p:spPr>
          <a:xfrm>
            <a:off x="3200400" y="1728216"/>
            <a:ext cx="7985455" cy="704088"/>
          </a:xfrm>
          <a:prstGeom prst="rect">
            <a:avLst/>
          </a:prstGeom>
          <a:noFill/>
          <a:ln/>
        </p:spPr>
        <p:txBody>
          <a:bodyPr wrap="square" lIns="0" tIns="0" rIns="0" bIns="0" rtlCol="0" anchor="ctr"/>
          <a:lstStyle/>
          <a:p>
            <a:pPr indent="0" marL="0">
              <a:buNone/>
            </a:pPr>
            <a:r>
              <a:rPr lang="en-US" sz="1250" dirty="0">
                <a:solidFill>
                  <a:schemeClr val="bg2"/>
                </a:solidFill>
                <a:latin typeface="Inter" pitchFamily="34" charset="0"/>
                <a:ea typeface="Inter" pitchFamily="34" charset="-122"/>
                <a:cs typeface="Inter" pitchFamily="34" charset="-120"/>
              </a:rPr>
              <a:t>Brand intro · guided onboarding with Nivi · radius search around a test destination · demo listings with itemised (demo) checks · tenant and owner views sharing visit requests · 520 automated tests passing</a:t>
            </a:r>
            <a:endParaRPr lang="en-US" sz="1250" dirty="0"/>
          </a:p>
        </p:txBody>
      </p:sp>
      <p:sp>
        <p:nvSpPr>
          <p:cNvPr id="8" name="Shape 6"/>
          <p:cNvSpPr/>
          <p:nvPr/>
        </p:nvSpPr>
        <p:spPr>
          <a:xfrm>
            <a:off x="685800" y="2743200"/>
            <a:ext cx="3436010" cy="2514600"/>
          </a:xfrm>
          <a:prstGeom prst="rect">
            <a:avLst/>
          </a:prstGeom>
          <a:solidFill>
            <a:schemeClr val="bg1"/>
          </a:solidFill>
          <a:ln w="15875">
            <a:solidFill>
              <a:schemeClr val="accent1"/>
            </a:solidFill>
            <a:prstDash val="solid"/>
          </a:ln>
        </p:spPr>
      </p:sp>
      <p:sp>
        <p:nvSpPr>
          <p:cNvPr id="9" name="Text 7"/>
          <p:cNvSpPr txBox="1"/>
          <p:nvPr/>
        </p:nvSpPr>
        <p:spPr>
          <a:xfrm>
            <a:off x="960120" y="2971800"/>
            <a:ext cx="2887370" cy="219456"/>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STAGE 1 · NEXT</a:t>
            </a:r>
            <a:endParaRPr lang="en-US" sz="1000" dirty="0"/>
          </a:p>
        </p:txBody>
      </p:sp>
      <p:sp>
        <p:nvSpPr>
          <p:cNvPr id="10" name="Text 8"/>
          <p:cNvSpPr txBox="1"/>
          <p:nvPr/>
        </p:nvSpPr>
        <p:spPr>
          <a:xfrm>
            <a:off x="960120" y="3218688"/>
            <a:ext cx="2887370" cy="566928"/>
          </a:xfrm>
          <a:prstGeom prst="rect">
            <a:avLst/>
          </a:prstGeom>
          <a:noFill/>
          <a:ln/>
        </p:spPr>
        <p:txBody>
          <a:bodyPr wrap="square" lIns="0" tIns="0" rIns="0" bIns="0" rtlCol="0" anchor="t"/>
          <a:lstStyle/>
          <a:p>
            <a:pPr indent="0" marL="0">
              <a:buNone/>
            </a:pPr>
            <a:r>
              <a:rPr lang="en-US" sz="1600" b="1" dirty="0">
                <a:solidFill>
                  <a:schemeClr val="tx1"/>
                </a:solidFill>
                <a:latin typeface="Inter" pitchFamily="34" charset="0"/>
                <a:ea typeface="Inter" pitchFamily="34" charset="-122"/>
                <a:cs typeface="Inter" pitchFamily="34" charset="-120"/>
              </a:rPr>
              <a:t>Product &amp; user validation</a:t>
            </a:r>
            <a:endParaRPr lang="en-US" sz="1600" dirty="0"/>
          </a:p>
        </p:txBody>
      </p:sp>
      <p:sp>
        <p:nvSpPr>
          <p:cNvPr id="11" name="Text 9"/>
          <p:cNvSpPr txBox="1"/>
          <p:nvPr/>
        </p:nvSpPr>
        <p:spPr>
          <a:xfrm>
            <a:off x="960120" y="3794760"/>
            <a:ext cx="2887370" cy="1371600"/>
          </a:xfrm>
          <a:prstGeom prst="rect">
            <a:avLst/>
          </a:prstGeom>
          <a:noFill/>
          <a:ln/>
        </p:spPr>
        <p:txBody>
          <a:bodyPr wrap="square" lIns="0" tIns="0" rIns="0" bIns="0" rtlCol="0" anchor="t"/>
          <a:lstStyle/>
          <a:p>
            <a:pPr marL="152400" indent="-152400">
              <a:spcAft>
                <a:spcPts val="400"/>
              </a:spcAft>
              <a:buSzPct val="100000"/>
              <a:buChar char="•"/>
            </a:pPr>
            <a:r>
              <a:rPr lang="en-US" sz="1250" dirty="0">
                <a:solidFill>
                  <a:schemeClr val="accent3"/>
                </a:solidFill>
                <a:latin typeface="Inter" pitchFamily="34" charset="0"/>
                <a:ea typeface="Inter" pitchFamily="34" charset="-122"/>
                <a:cs typeface="Inter" pitchFamily="34" charset="-120"/>
              </a:rPr>
              <a:t>Refine the core tenant experience</a:t>
            </a:r>
            <a:endParaRPr lang="en-US" sz="1250" dirty="0"/>
          </a:p>
          <a:p>
            <a:pPr marL="152400" indent="-152400">
              <a:spcAft>
                <a:spcPts val="400"/>
              </a:spcAft>
              <a:buSzPct val="100000"/>
              <a:buChar char="•"/>
            </a:pPr>
            <a:r>
              <a:rPr lang="en-US" sz="1250" dirty="0">
                <a:solidFill>
                  <a:schemeClr val="accent3"/>
                </a:solidFill>
                <a:latin typeface="Inter" pitchFamily="34" charset="0"/>
                <a:ea typeface="Inter" pitchFamily="34" charset="-122"/>
                <a:cs typeface="Inter" pitchFamily="34" charset="-120"/>
              </a:rPr>
              <a:t>Interview renters and property owners</a:t>
            </a:r>
            <a:endParaRPr lang="en-US" sz="1250" dirty="0"/>
          </a:p>
          <a:p>
            <a:pPr marL="152400" indent="-152400">
              <a:spcAft>
                <a:spcPts val="400"/>
              </a:spcAft>
              <a:buSzPct val="100000"/>
              <a:buChar char="•"/>
            </a:pPr>
            <a:r>
              <a:rPr lang="en-US" sz="1250" dirty="0">
                <a:solidFill>
                  <a:schemeClr val="accent3"/>
                </a:solidFill>
                <a:latin typeface="Inter" pitchFamily="34" charset="0"/>
                <a:ea typeface="Inter" pitchFamily="34" charset="-122"/>
                <a:cs typeface="Inter" pitchFamily="34" charset="-120"/>
              </a:rPr>
              <a:t>Agree measurable pilot success criteria</a:t>
            </a:r>
            <a:endParaRPr lang="en-US" sz="1250" dirty="0"/>
          </a:p>
        </p:txBody>
      </p:sp>
      <p:sp>
        <p:nvSpPr>
          <p:cNvPr id="12" name="Shape 10"/>
          <p:cNvSpPr/>
          <p:nvPr/>
        </p:nvSpPr>
        <p:spPr>
          <a:xfrm>
            <a:off x="4377842" y="2743200"/>
            <a:ext cx="3436010" cy="2514600"/>
          </a:xfrm>
          <a:prstGeom prst="rect">
            <a:avLst/>
          </a:prstGeom>
          <a:solidFill>
            <a:schemeClr val="bg1"/>
          </a:solidFill>
          <a:ln w="9525">
            <a:solidFill>
              <a:schemeClr val="accent4"/>
            </a:solidFill>
            <a:prstDash val="solid"/>
          </a:ln>
        </p:spPr>
      </p:sp>
      <p:sp>
        <p:nvSpPr>
          <p:cNvPr id="13" name="Text 11"/>
          <p:cNvSpPr txBox="1"/>
          <p:nvPr/>
        </p:nvSpPr>
        <p:spPr>
          <a:xfrm>
            <a:off x="4652162" y="2971800"/>
            <a:ext cx="2887370" cy="219456"/>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STAGE 2</a:t>
            </a:r>
            <a:endParaRPr lang="en-US" sz="1000" dirty="0"/>
          </a:p>
        </p:txBody>
      </p:sp>
      <p:sp>
        <p:nvSpPr>
          <p:cNvPr id="14" name="Text 12"/>
          <p:cNvSpPr txBox="1"/>
          <p:nvPr/>
        </p:nvSpPr>
        <p:spPr>
          <a:xfrm>
            <a:off x="4652162" y="3218688"/>
            <a:ext cx="2887370" cy="566928"/>
          </a:xfrm>
          <a:prstGeom prst="rect">
            <a:avLst/>
          </a:prstGeom>
          <a:noFill/>
          <a:ln/>
        </p:spPr>
        <p:txBody>
          <a:bodyPr wrap="square" lIns="0" tIns="0" rIns="0" bIns="0" rtlCol="0" anchor="t"/>
          <a:lstStyle/>
          <a:p>
            <a:pPr indent="0" marL="0">
              <a:buNone/>
            </a:pPr>
            <a:r>
              <a:rPr lang="en-US" sz="1600" b="1" dirty="0">
                <a:solidFill>
                  <a:schemeClr val="tx1"/>
                </a:solidFill>
                <a:latin typeface="Inter" pitchFamily="34" charset="0"/>
                <a:ea typeface="Inter" pitchFamily="34" charset="-122"/>
                <a:cs typeface="Inter" pitchFamily="34" charset="-120"/>
              </a:rPr>
              <a:t>Trust &amp; operational foundation</a:t>
            </a:r>
            <a:endParaRPr lang="en-US" sz="1600" dirty="0"/>
          </a:p>
        </p:txBody>
      </p:sp>
      <p:sp>
        <p:nvSpPr>
          <p:cNvPr id="15" name="Text 13"/>
          <p:cNvSpPr txBox="1"/>
          <p:nvPr/>
        </p:nvSpPr>
        <p:spPr>
          <a:xfrm>
            <a:off x="4652162" y="3794760"/>
            <a:ext cx="2887370" cy="1371600"/>
          </a:xfrm>
          <a:prstGeom prst="rect">
            <a:avLst/>
          </a:prstGeom>
          <a:noFill/>
          <a:ln/>
        </p:spPr>
        <p:txBody>
          <a:bodyPr wrap="square" lIns="0" tIns="0" rIns="0" bIns="0" rtlCol="0" anchor="t"/>
          <a:lstStyle/>
          <a:p>
            <a:pPr marL="152400" indent="-152400">
              <a:spcAft>
                <a:spcPts val="400"/>
              </a:spcAft>
              <a:buSzPct val="100000"/>
              <a:buChar char="•"/>
            </a:pPr>
            <a:r>
              <a:rPr lang="en-US" sz="1250" dirty="0">
                <a:solidFill>
                  <a:schemeClr val="accent3"/>
                </a:solidFill>
                <a:latin typeface="Inter" pitchFamily="34" charset="0"/>
                <a:ea typeface="Inter" pitchFamily="34" charset="-122"/>
                <a:cs typeface="Inter" pitchFamily="34" charset="-120"/>
              </a:rPr>
              <a:t>Real owner and property verification procedures</a:t>
            </a:r>
            <a:endParaRPr lang="en-US" sz="1250" dirty="0"/>
          </a:p>
          <a:p>
            <a:pPr marL="152400" indent="-152400">
              <a:spcAft>
                <a:spcPts val="400"/>
              </a:spcAft>
              <a:buSzPct val="100000"/>
              <a:buChar char="•"/>
            </a:pPr>
            <a:r>
              <a:rPr lang="en-US" sz="1250" dirty="0">
                <a:solidFill>
                  <a:schemeClr val="accent3"/>
                </a:solidFill>
                <a:latin typeface="Inter" pitchFamily="34" charset="0"/>
                <a:ea typeface="Inter" pitchFamily="34" charset="-122"/>
                <a:cs typeface="Inter" pitchFamily="34" charset="-120"/>
              </a:rPr>
              <a:t>Production backend, privacy and data handling</a:t>
            </a:r>
            <a:endParaRPr lang="en-US" sz="1250" dirty="0"/>
          </a:p>
          <a:p>
            <a:pPr marL="152400" indent="-152400">
              <a:spcAft>
                <a:spcPts val="400"/>
              </a:spcAft>
              <a:buSzPct val="100000"/>
              <a:buChar char="•"/>
            </a:pPr>
            <a:r>
              <a:rPr lang="en-US" sz="1250" dirty="0">
                <a:solidFill>
                  <a:schemeClr val="accent3"/>
                </a:solidFill>
                <a:latin typeface="Inter" pitchFamily="34" charset="0"/>
                <a:ea typeface="Inter" pitchFamily="34" charset="-122"/>
                <a:cs typeface="Inter" pitchFamily="34" charset="-120"/>
              </a:rPr>
              <a:t>Support, dispute and legal groundwork</a:t>
            </a:r>
            <a:endParaRPr lang="en-US" sz="1250" dirty="0"/>
          </a:p>
        </p:txBody>
      </p:sp>
      <p:sp>
        <p:nvSpPr>
          <p:cNvPr id="16" name="Shape 14"/>
          <p:cNvSpPr/>
          <p:nvPr/>
        </p:nvSpPr>
        <p:spPr>
          <a:xfrm>
            <a:off x="8069885" y="2743200"/>
            <a:ext cx="3436010" cy="2514600"/>
          </a:xfrm>
          <a:prstGeom prst="rect">
            <a:avLst/>
          </a:prstGeom>
          <a:solidFill>
            <a:schemeClr val="bg1"/>
          </a:solidFill>
          <a:ln w="9525">
            <a:solidFill>
              <a:schemeClr val="accent4"/>
            </a:solidFill>
            <a:prstDash val="solid"/>
          </a:ln>
        </p:spPr>
      </p:sp>
      <p:sp>
        <p:nvSpPr>
          <p:cNvPr id="17" name="Text 15"/>
          <p:cNvSpPr txBox="1"/>
          <p:nvPr/>
        </p:nvSpPr>
        <p:spPr>
          <a:xfrm>
            <a:off x="8344205" y="2971800"/>
            <a:ext cx="2887370" cy="219456"/>
          </a:xfrm>
          <a:prstGeom prst="rect">
            <a:avLst/>
          </a:prstGeom>
          <a:noFill/>
          <a:ln/>
        </p:spPr>
        <p:txBody>
          <a:bodyPr wrap="square" lIns="0" tIns="0" rIns="0" bIns="0" rtlCol="0" anchor="t"/>
          <a:lstStyle/>
          <a:p>
            <a:pPr indent="0" marL="0">
              <a:buNone/>
            </a:pPr>
            <a:r>
              <a:rPr lang="en-US" sz="1000" b="1" spc="250" kern="0" dirty="0">
                <a:solidFill>
                  <a:schemeClr val="accent1"/>
                </a:solidFill>
                <a:latin typeface="Inter" pitchFamily="34" charset="0"/>
                <a:ea typeface="Inter" pitchFamily="34" charset="-122"/>
                <a:cs typeface="Inter" pitchFamily="34" charset="-120"/>
              </a:rPr>
              <a:t>STAGE 3</a:t>
            </a:r>
            <a:endParaRPr lang="en-US" sz="1000" dirty="0"/>
          </a:p>
        </p:txBody>
      </p:sp>
      <p:sp>
        <p:nvSpPr>
          <p:cNvPr id="18" name="Text 16"/>
          <p:cNvSpPr txBox="1"/>
          <p:nvPr/>
        </p:nvSpPr>
        <p:spPr>
          <a:xfrm>
            <a:off x="8344205" y="3218688"/>
            <a:ext cx="2887370" cy="566928"/>
          </a:xfrm>
          <a:prstGeom prst="rect">
            <a:avLst/>
          </a:prstGeom>
          <a:noFill/>
          <a:ln/>
        </p:spPr>
        <p:txBody>
          <a:bodyPr wrap="square" lIns="0" tIns="0" rIns="0" bIns="0" rtlCol="0" anchor="t"/>
          <a:lstStyle/>
          <a:p>
            <a:pPr indent="0" marL="0">
              <a:buNone/>
            </a:pPr>
            <a:r>
              <a:rPr lang="en-US" sz="1600" b="1" dirty="0">
                <a:solidFill>
                  <a:schemeClr val="tx1"/>
                </a:solidFill>
                <a:latin typeface="Inter" pitchFamily="34" charset="0"/>
                <a:ea typeface="Inter" pitchFamily="34" charset="-122"/>
                <a:cs typeface="Inter" pitchFamily="34" charset="-120"/>
              </a:rPr>
              <a:t>Controlled pilot &amp; iteration</a:t>
            </a:r>
            <a:endParaRPr lang="en-US" sz="1600" dirty="0"/>
          </a:p>
        </p:txBody>
      </p:sp>
      <p:sp>
        <p:nvSpPr>
          <p:cNvPr id="19" name="Text 17"/>
          <p:cNvSpPr txBox="1"/>
          <p:nvPr/>
        </p:nvSpPr>
        <p:spPr>
          <a:xfrm>
            <a:off x="8344205" y="3794760"/>
            <a:ext cx="2887370" cy="1371600"/>
          </a:xfrm>
          <a:prstGeom prst="rect">
            <a:avLst/>
          </a:prstGeom>
          <a:noFill/>
          <a:ln/>
        </p:spPr>
        <p:txBody>
          <a:bodyPr wrap="square" lIns="0" tIns="0" rIns="0" bIns="0" rtlCol="0" anchor="t"/>
          <a:lstStyle/>
          <a:p>
            <a:pPr marL="152400" indent="-152400">
              <a:spcAft>
                <a:spcPts val="400"/>
              </a:spcAft>
              <a:buSzPct val="100000"/>
              <a:buChar char="•"/>
            </a:pPr>
            <a:r>
              <a:rPr lang="en-US" sz="1250" dirty="0">
                <a:solidFill>
                  <a:schemeClr val="accent3"/>
                </a:solidFill>
                <a:latin typeface="Inter" pitchFamily="34" charset="0"/>
                <a:ea typeface="Inter" pitchFamily="34" charset="-122"/>
                <a:cs typeface="Inter" pitchFamily="34" charset="-120"/>
              </a:rPr>
              <a:t>Onboard genuine listings</a:t>
            </a:r>
            <a:endParaRPr lang="en-US" sz="1250" dirty="0"/>
          </a:p>
          <a:p>
            <a:pPr marL="152400" indent="-152400">
              <a:spcAft>
                <a:spcPts val="400"/>
              </a:spcAft>
              <a:buSzPct val="100000"/>
              <a:buChar char="•"/>
            </a:pPr>
            <a:r>
              <a:rPr lang="en-US" sz="1250" dirty="0">
                <a:solidFill>
                  <a:schemeClr val="accent3"/>
                </a:solidFill>
                <a:latin typeface="Inter" pitchFamily="34" charset="0"/>
                <a:ea typeface="Inter" pitchFamily="34" charset="-122"/>
                <a:cs typeface="Inter" pitchFamily="34" charset="-120"/>
              </a:rPr>
              <a:t>Run a limited pilot and gather feedback</a:t>
            </a:r>
            <a:endParaRPr lang="en-US" sz="1250" dirty="0"/>
          </a:p>
          <a:p>
            <a:pPr marL="152400" indent="-152400">
              <a:spcAft>
                <a:spcPts val="400"/>
              </a:spcAft>
              <a:buSzPct val="100000"/>
              <a:buChar char="•"/>
            </a:pPr>
            <a:r>
              <a:rPr lang="en-US" sz="1250" dirty="0">
                <a:solidFill>
                  <a:schemeClr val="accent3"/>
                </a:solidFill>
                <a:latin typeface="Inter" pitchFamily="34" charset="0"/>
                <a:ea typeface="Inter" pitchFamily="34" charset="-122"/>
                <a:cs typeface="Inter" pitchFamily="34" charset="-120"/>
              </a:rPr>
              <a:t>Measure outcomes, improve, then expand</a:t>
            </a:r>
            <a:endParaRPr lang="en-US" sz="1250" dirty="0"/>
          </a:p>
        </p:txBody>
      </p:sp>
      <p:sp>
        <p:nvSpPr>
          <p:cNvPr id="20" name="Text 18"/>
          <p:cNvSpPr txBox="1"/>
          <p:nvPr/>
        </p:nvSpPr>
        <p:spPr>
          <a:xfrm>
            <a:off x="685800" y="5486400"/>
            <a:ext cx="10820095" cy="219456"/>
          </a:xfrm>
          <a:prstGeom prst="rect">
            <a:avLst/>
          </a:prstGeom>
          <a:noFill/>
          <a:ln/>
        </p:spPr>
        <p:txBody>
          <a:bodyPr wrap="square" lIns="0" tIns="0" rIns="0" bIns="0" rtlCol="0" anchor="t"/>
          <a:lstStyle/>
          <a:p>
            <a:pPr indent="0" marL="0">
              <a:buNone/>
            </a:pPr>
            <a:r>
              <a:rPr lang="en-US" sz="1000" b="1" spc="250" kern="0" dirty="0">
                <a:solidFill>
                  <a:schemeClr val="tx1"/>
                </a:solidFill>
                <a:latin typeface="Inter" pitchFamily="34" charset="0"/>
                <a:ea typeface="Inter" pitchFamily="34" charset="-122"/>
                <a:cs typeface="Inter" pitchFamily="34" charset="-120"/>
              </a:rPr>
              <a:t>PROPOSED PILOT METRICS · TO BE MEASURED, NO TARGETS SET</a:t>
            </a:r>
            <a:endParaRPr lang="en-US" sz="1000" dirty="0"/>
          </a:p>
        </p:txBody>
      </p:sp>
      <p:sp>
        <p:nvSpPr>
          <p:cNvPr id="21" name="Shape 19"/>
          <p:cNvSpPr/>
          <p:nvPr/>
        </p:nvSpPr>
        <p:spPr>
          <a:xfrm>
            <a:off x="685800" y="5806440"/>
            <a:ext cx="2236622" cy="310896"/>
          </a:xfrm>
          <a:prstGeom prst="roundRect">
            <a:avLst>
              <a:gd name="adj" fmla="val 50000"/>
            </a:avLst>
          </a:prstGeom>
          <a:solidFill>
            <a:schemeClr val="bg1"/>
          </a:solidFill>
          <a:ln w="9525">
            <a:solidFill>
              <a:schemeClr val="accent1"/>
            </a:solidFill>
            <a:prstDash val="solid"/>
          </a:ln>
        </p:spPr>
      </p:sp>
      <p:sp>
        <p:nvSpPr>
          <p:cNvPr id="22" name="Text 20"/>
          <p:cNvSpPr txBox="1"/>
          <p:nvPr/>
        </p:nvSpPr>
        <p:spPr>
          <a:xfrm>
            <a:off x="685800" y="5806440"/>
            <a:ext cx="2236622" cy="310896"/>
          </a:xfrm>
          <a:prstGeom prst="rect">
            <a:avLst/>
          </a:prstGeom>
          <a:noFill/>
          <a:ln/>
        </p:spPr>
        <p:txBody>
          <a:bodyPr wrap="square" lIns="0" tIns="0" rIns="0" bIns="0" rtlCol="0" anchor="ctr"/>
          <a:lstStyle/>
          <a:p>
            <a:pPr algn="ctr" indent="0" marL="0">
              <a:buNone/>
            </a:pPr>
            <a:r>
              <a:rPr lang="en-US" sz="1150" dirty="0">
                <a:solidFill>
                  <a:schemeClr val="tx1"/>
                </a:solidFill>
                <a:latin typeface="Inter" pitchFamily="34" charset="0"/>
                <a:ea typeface="Inter" pitchFamily="34" charset="-122"/>
                <a:cs typeface="Inter" pitchFamily="34" charset="-120"/>
              </a:rPr>
              <a:t>Time to find suitable options</a:t>
            </a:r>
            <a:endParaRPr lang="en-US" sz="1150" dirty="0"/>
          </a:p>
        </p:txBody>
      </p:sp>
      <p:sp>
        <p:nvSpPr>
          <p:cNvPr id="23" name="Shape 21"/>
          <p:cNvSpPr/>
          <p:nvPr/>
        </p:nvSpPr>
        <p:spPr>
          <a:xfrm>
            <a:off x="3013862" y="5806440"/>
            <a:ext cx="1627632" cy="310896"/>
          </a:xfrm>
          <a:prstGeom prst="roundRect">
            <a:avLst>
              <a:gd name="adj" fmla="val 50000"/>
            </a:avLst>
          </a:prstGeom>
          <a:solidFill>
            <a:schemeClr val="bg1"/>
          </a:solidFill>
          <a:ln w="9525">
            <a:solidFill>
              <a:schemeClr val="accent1"/>
            </a:solidFill>
            <a:prstDash val="solid"/>
          </a:ln>
        </p:spPr>
      </p:sp>
      <p:sp>
        <p:nvSpPr>
          <p:cNvPr id="24" name="Text 22"/>
          <p:cNvSpPr txBox="1"/>
          <p:nvPr/>
        </p:nvSpPr>
        <p:spPr>
          <a:xfrm>
            <a:off x="3013862" y="5806440"/>
            <a:ext cx="1627632" cy="310896"/>
          </a:xfrm>
          <a:prstGeom prst="rect">
            <a:avLst/>
          </a:prstGeom>
          <a:noFill/>
          <a:ln/>
        </p:spPr>
        <p:txBody>
          <a:bodyPr wrap="square" lIns="0" tIns="0" rIns="0" bIns="0" rtlCol="0" anchor="ctr"/>
          <a:lstStyle/>
          <a:p>
            <a:pPr algn="ctr" indent="0" marL="0">
              <a:buNone/>
            </a:pPr>
            <a:r>
              <a:rPr lang="en-US" sz="1150" dirty="0">
                <a:solidFill>
                  <a:schemeClr val="tx1"/>
                </a:solidFill>
                <a:latin typeface="Inter" pitchFamily="34" charset="0"/>
                <a:ea typeface="Inter" pitchFamily="34" charset="-122"/>
                <a:cs typeface="Inter" pitchFamily="34" charset="-120"/>
              </a:rPr>
              <a:t>Genuine enquiry rate</a:t>
            </a:r>
            <a:endParaRPr lang="en-US" sz="1150" dirty="0"/>
          </a:p>
        </p:txBody>
      </p:sp>
      <p:sp>
        <p:nvSpPr>
          <p:cNvPr id="25" name="Shape 23"/>
          <p:cNvSpPr/>
          <p:nvPr/>
        </p:nvSpPr>
        <p:spPr>
          <a:xfrm>
            <a:off x="4732934" y="5806440"/>
            <a:ext cx="2168957" cy="310896"/>
          </a:xfrm>
          <a:prstGeom prst="roundRect">
            <a:avLst>
              <a:gd name="adj" fmla="val 50000"/>
            </a:avLst>
          </a:prstGeom>
          <a:solidFill>
            <a:schemeClr val="bg1"/>
          </a:solidFill>
          <a:ln w="9525">
            <a:solidFill>
              <a:schemeClr val="accent1"/>
            </a:solidFill>
            <a:prstDash val="solid"/>
          </a:ln>
        </p:spPr>
      </p:sp>
      <p:sp>
        <p:nvSpPr>
          <p:cNvPr id="26" name="Text 24"/>
          <p:cNvSpPr txBox="1"/>
          <p:nvPr/>
        </p:nvSpPr>
        <p:spPr>
          <a:xfrm>
            <a:off x="4732934" y="5806440"/>
            <a:ext cx="2168957" cy="310896"/>
          </a:xfrm>
          <a:prstGeom prst="rect">
            <a:avLst/>
          </a:prstGeom>
          <a:noFill/>
          <a:ln/>
        </p:spPr>
        <p:txBody>
          <a:bodyPr wrap="square" lIns="0" tIns="0" rIns="0" bIns="0" rtlCol="0" anchor="ctr"/>
          <a:lstStyle/>
          <a:p>
            <a:pPr algn="ctr" indent="0" marL="0">
              <a:buNone/>
            </a:pPr>
            <a:r>
              <a:rPr lang="en-US" sz="1150" dirty="0">
                <a:solidFill>
                  <a:schemeClr val="tx1"/>
                </a:solidFill>
                <a:latin typeface="Inter" pitchFamily="34" charset="0"/>
                <a:ea typeface="Inter" pitchFamily="34" charset="-122"/>
                <a:cs typeface="Inter" pitchFamily="34" charset="-120"/>
              </a:rPr>
              <a:t>Verification completion rate</a:t>
            </a:r>
            <a:endParaRPr lang="en-US" sz="1150" dirty="0"/>
          </a:p>
        </p:txBody>
      </p:sp>
      <p:sp>
        <p:nvSpPr>
          <p:cNvPr id="27" name="Shape 25"/>
          <p:cNvSpPr/>
          <p:nvPr/>
        </p:nvSpPr>
        <p:spPr>
          <a:xfrm>
            <a:off x="6993331" y="5806440"/>
            <a:ext cx="2236622" cy="310896"/>
          </a:xfrm>
          <a:prstGeom prst="roundRect">
            <a:avLst>
              <a:gd name="adj" fmla="val 50000"/>
            </a:avLst>
          </a:prstGeom>
          <a:solidFill>
            <a:schemeClr val="bg1"/>
          </a:solidFill>
          <a:ln w="9525">
            <a:solidFill>
              <a:schemeClr val="accent1"/>
            </a:solidFill>
            <a:prstDash val="solid"/>
          </a:ln>
        </p:spPr>
      </p:sp>
      <p:sp>
        <p:nvSpPr>
          <p:cNvPr id="28" name="Text 26"/>
          <p:cNvSpPr txBox="1"/>
          <p:nvPr/>
        </p:nvSpPr>
        <p:spPr>
          <a:xfrm>
            <a:off x="6993331" y="5806440"/>
            <a:ext cx="2236622" cy="310896"/>
          </a:xfrm>
          <a:prstGeom prst="rect">
            <a:avLst/>
          </a:prstGeom>
          <a:noFill/>
          <a:ln/>
        </p:spPr>
        <p:txBody>
          <a:bodyPr wrap="square" lIns="0" tIns="0" rIns="0" bIns="0" rtlCol="0" anchor="ctr"/>
          <a:lstStyle/>
          <a:p>
            <a:pPr algn="ctr" indent="0" marL="0">
              <a:buNone/>
            </a:pPr>
            <a:r>
              <a:rPr lang="en-US" sz="1150" dirty="0">
                <a:solidFill>
                  <a:schemeClr val="tx1"/>
                </a:solidFill>
                <a:latin typeface="Inter" pitchFamily="34" charset="0"/>
                <a:ea typeface="Inter" pitchFamily="34" charset="-122"/>
                <a:cs typeface="Inter" pitchFamily="34" charset="-120"/>
              </a:rPr>
              <a:t>Tenant and owner satisfaction</a:t>
            </a:r>
            <a:endParaRPr lang="en-US" sz="1150" dirty="0"/>
          </a:p>
        </p:txBody>
      </p:sp>
      <p:sp>
        <p:nvSpPr>
          <p:cNvPr id="29" name="Shape 27"/>
          <p:cNvSpPr/>
          <p:nvPr/>
        </p:nvSpPr>
        <p:spPr>
          <a:xfrm>
            <a:off x="9321394" y="5806440"/>
            <a:ext cx="1965960" cy="310896"/>
          </a:xfrm>
          <a:prstGeom prst="roundRect">
            <a:avLst>
              <a:gd name="adj" fmla="val 50000"/>
            </a:avLst>
          </a:prstGeom>
          <a:solidFill>
            <a:schemeClr val="bg1"/>
          </a:solidFill>
          <a:ln w="9525">
            <a:solidFill>
              <a:schemeClr val="accent1"/>
            </a:solidFill>
            <a:prstDash val="solid"/>
          </a:ln>
        </p:spPr>
      </p:sp>
      <p:sp>
        <p:nvSpPr>
          <p:cNvPr id="30" name="Text 28"/>
          <p:cNvSpPr txBox="1"/>
          <p:nvPr/>
        </p:nvSpPr>
        <p:spPr>
          <a:xfrm>
            <a:off x="9321394" y="5806440"/>
            <a:ext cx="1965960" cy="310896"/>
          </a:xfrm>
          <a:prstGeom prst="rect">
            <a:avLst/>
          </a:prstGeom>
          <a:noFill/>
          <a:ln/>
        </p:spPr>
        <p:txBody>
          <a:bodyPr wrap="square" lIns="0" tIns="0" rIns="0" bIns="0" rtlCol="0" anchor="ctr"/>
          <a:lstStyle/>
          <a:p>
            <a:pPr algn="ctr" indent="0" marL="0">
              <a:buNone/>
            </a:pPr>
            <a:r>
              <a:rPr lang="en-US" sz="1150" dirty="0">
                <a:solidFill>
                  <a:schemeClr val="tx1"/>
                </a:solidFill>
                <a:latin typeface="Inter" pitchFamily="34" charset="0"/>
                <a:ea typeface="Inter" pitchFamily="34" charset="-122"/>
                <a:cs typeface="Inter" pitchFamily="34" charset="-120"/>
              </a:rPr>
              <a:t>Completed rental journeys</a:t>
            </a:r>
            <a:endParaRPr lang="en-US" sz="1150" dirty="0"/>
          </a:p>
        </p:txBody>
      </p:sp>
      <p:sp>
        <p:nvSpPr>
          <p:cNvPr id="25" name="Slide Number Placeholder 0"/>
          <p:cNvSpPr>
            <a:spLocks noGrp="1"/>
          </p:cNvSpPr>
          <p:nvPr>
            <p:ph type="sldNum" sz="quarter" idx="4294967295"/>
          </p:nvPr>
        </p:nvSpPr>
        <p:spPr>
          <a:xfrm>
            <a:off x="10957255" y="6355080"/>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Empty room with a glass door to a balcony (illustrative photo)">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claude/work/assets/close_overlay.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home/claude/work/assets/mark_gold.png">    </p:cNvPr>
          <p:cNvPicPr>
            <a:picLocks noChangeAspect="1"/>
          </p:cNvPicPr>
          <p:nvPr/>
        </p:nvPicPr>
        <p:blipFill>
          <a:blip r:embed="rId3"/>
          <a:stretch>
            <a:fillRect/>
          </a:stretch>
        </p:blipFill>
        <p:spPr>
          <a:xfrm>
            <a:off x="5775808" y="1600200"/>
            <a:ext cx="640080" cy="640080"/>
          </a:xfrm>
          <a:prstGeom prst="rect">
            <a:avLst/>
          </a:prstGeom>
        </p:spPr>
      </p:pic>
      <p:sp>
        <p:nvSpPr>
          <p:cNvPr id="5" name="Text 0"/>
          <p:cNvSpPr txBox="1"/>
          <p:nvPr/>
        </p:nvSpPr>
        <p:spPr>
          <a:xfrm>
            <a:off x="914400" y="2514600"/>
            <a:ext cx="10362895" cy="914400"/>
          </a:xfrm>
          <a:prstGeom prst="rect">
            <a:avLst/>
          </a:prstGeom>
          <a:noFill/>
          <a:ln/>
        </p:spPr>
        <p:txBody>
          <a:bodyPr wrap="square" lIns="0" tIns="0" rIns="0" bIns="0" rtlCol="0" anchor="ctr"/>
          <a:lstStyle/>
          <a:p>
            <a:pPr algn="ctr" indent="0" marL="0">
              <a:buNone/>
            </a:pPr>
            <a:r>
              <a:rPr lang="en-US" sz="4600" b="1" dirty="0">
                <a:solidFill>
                  <a:schemeClr val="bg1"/>
                </a:solidFill>
                <a:latin typeface="Inter" pitchFamily="34" charset="0"/>
                <a:ea typeface="Inter" pitchFamily="34" charset="-122"/>
                <a:cs typeface="Inter" pitchFamily="34" charset="-120"/>
              </a:rPr>
              <a:t>Your next chapter starts at home.</a:t>
            </a:r>
            <a:endParaRPr lang="en-US" sz="4600" dirty="0"/>
          </a:p>
        </p:txBody>
      </p:sp>
      <p:sp>
        <p:nvSpPr>
          <p:cNvPr id="6" name="Text 1"/>
          <p:cNvSpPr txBox="1"/>
          <p:nvPr/>
        </p:nvSpPr>
        <p:spPr>
          <a:xfrm>
            <a:off x="914400" y="3520440"/>
            <a:ext cx="10362895" cy="457200"/>
          </a:xfrm>
          <a:prstGeom prst="rect">
            <a:avLst/>
          </a:prstGeom>
          <a:noFill/>
          <a:ln/>
        </p:spPr>
        <p:txBody>
          <a:bodyPr wrap="square" lIns="0" tIns="0" rIns="0" bIns="0" rtlCol="0" anchor="ctr"/>
          <a:lstStyle/>
          <a:p>
            <a:pPr algn="ctr" indent="0" marL="0">
              <a:buNone/>
            </a:pPr>
            <a:r>
              <a:rPr lang="en-US" sz="1900" dirty="0">
                <a:solidFill>
                  <a:schemeClr val="accent2"/>
                </a:solidFill>
                <a:latin typeface="Inter" pitchFamily="34" charset="0"/>
                <a:ea typeface="Inter" pitchFamily="34" charset="-122"/>
                <a:cs typeface="Inter" pitchFamily="34" charset="-120"/>
              </a:rPr>
              <a:t>A more connected, considerate way to navigate rental living.</a:t>
            </a:r>
            <a:endParaRPr lang="en-US" sz="1900" dirty="0"/>
          </a:p>
        </p:txBody>
      </p:sp>
      <p:sp>
        <p:nvSpPr>
          <p:cNvPr id="7" name="Shape 2"/>
          <p:cNvSpPr/>
          <p:nvPr/>
        </p:nvSpPr>
        <p:spPr>
          <a:xfrm>
            <a:off x="5775808" y="4434840"/>
            <a:ext cx="640080" cy="0"/>
          </a:xfrm>
          <a:prstGeom prst="line">
            <a:avLst/>
          </a:prstGeom>
          <a:noFill/>
          <a:ln w="15875">
            <a:solidFill>
              <a:schemeClr val="accent1"/>
            </a:solidFill>
            <a:prstDash val="solid"/>
          </a:ln>
        </p:spPr>
      </p:sp>
      <p:sp>
        <p:nvSpPr>
          <p:cNvPr id="8" name="Text 3"/>
          <p:cNvSpPr txBox="1"/>
          <p:nvPr/>
        </p:nvSpPr>
        <p:spPr>
          <a:xfrm>
            <a:off x="914400" y="4709160"/>
            <a:ext cx="10362895" cy="365760"/>
          </a:xfrm>
          <a:prstGeom prst="rect">
            <a:avLst/>
          </a:prstGeom>
          <a:noFill/>
          <a:ln/>
        </p:spPr>
        <p:txBody>
          <a:bodyPr wrap="square" lIns="0" tIns="0" rIns="0" bIns="0" rtlCol="0" anchor="ctr"/>
          <a:lstStyle/>
          <a:p>
            <a:pPr algn="ctr" indent="0" marL="0">
              <a:buNone/>
            </a:pPr>
            <a:r>
              <a:rPr lang="en-US" sz="1300" b="1" spc="400" kern="0" dirty="0">
                <a:solidFill>
                  <a:schemeClr val="accent1"/>
                </a:solidFill>
                <a:latin typeface="Inter" pitchFamily="34" charset="0"/>
                <a:ea typeface="Inter" pitchFamily="34" charset="-122"/>
                <a:cs typeface="Inter" pitchFamily="34" charset="-120"/>
              </a:rPr>
              <a:t>EXPERIENCE THE NIVORA PROTOTYPE  →</a:t>
            </a:r>
            <a:endParaRPr lang="en-US" sz="1300" dirty="0"/>
          </a:p>
        </p:txBody>
      </p:sp>
      <p:sp>
        <p:nvSpPr>
          <p:cNvPr id="9" name="Text 4"/>
          <p:cNvSpPr txBox="1"/>
          <p:nvPr/>
        </p:nvSpPr>
        <p:spPr>
          <a:xfrm>
            <a:off x="914400" y="6172200"/>
            <a:ext cx="10362895" cy="274320"/>
          </a:xfrm>
          <a:prstGeom prst="rect">
            <a:avLst/>
          </a:prstGeom>
          <a:noFill/>
          <a:ln/>
        </p:spPr>
        <p:txBody>
          <a:bodyPr wrap="square" lIns="0" tIns="0" rIns="0" bIns="0" rtlCol="0" anchor="ctr"/>
          <a:lstStyle/>
          <a:p>
            <a:pPr algn="ctr" indent="0" marL="0">
              <a:buNone/>
            </a:pPr>
            <a:r>
              <a:rPr lang="en-US" sz="900" spc="300" kern="0" dirty="0">
                <a:solidFill>
                  <a:schemeClr val="accent3"/>
                </a:solidFill>
                <a:latin typeface="Inter" pitchFamily="34" charset="0"/>
                <a:ea typeface="Inter" pitchFamily="34" charset="-122"/>
                <a:cs typeface="Inter" pitchFamily="34" charset="-120"/>
              </a:rPr>
              <a:t>NIVORA · THE RENTAL LIVING ECOSYSTEM</a:t>
            </a:r>
            <a:endParaRPr lang="en-US" sz="900" dirty="0"/>
          </a:p>
        </p:txBody>
      </p:sp>
    </p:spTree>
  </p:cSld>
  <p:clrMapOvr>
    <a:masterClrMapping/>
  </p:clrMapOvr>
  <p:transition spd="med">
    <p:fade/>
  </p:transition>
</p:sld>
</file>

<file path=ppt/theme/theme1.xml><?xml version="1.0" encoding="utf-8"?>
<a:theme xmlns:a="http://schemas.openxmlformats.org/drawingml/2006/main" name="NIVORA">
  <a:themeElements>
    <a:clrScheme name="NIVORA">
      <a:dk1>
        <a:srgbClr val="242424"/>
      </a:dk1>
      <a:lt1>
        <a:srgbClr val="FFFFFF"/>
      </a:lt1>
      <a:dk2>
        <a:srgbClr val="090909"/>
      </a:dk2>
      <a:lt2>
        <a:srgbClr val="F5F3EE"/>
      </a:lt2>
      <a:accent1>
        <a:srgbClr val="C6A35B"/>
      </a:accent1>
      <a:accent2>
        <a:srgbClr val="D8BC7C"/>
      </a:accent2>
      <a:accent3>
        <a:srgbClr val="716F69"/>
      </a:accent3>
      <a:accent4>
        <a:srgbClr val="DEDAD1"/>
      </a:accent4>
      <a:accent5>
        <a:srgbClr val="B5C86B"/>
      </a:accent5>
      <a:accent6>
        <a:srgbClr val="1A1A1A"/>
      </a:accent6>
      <a:hlink>
        <a:srgbClr val="C6A35B"/>
      </a:hlink>
      <a:folHlink>
        <a:srgbClr val="D8BC7C"/>
      </a:folHlink>
    </a:clrScheme>
    <a:fontScheme name="NIVORA">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NIVORA — Pitch Deck</dc:title>
  <dc:subject>NIVORA: The Rental Living Ecosystem</dc:subject>
  <dc:creator>NIVORA</dc:creator>
  <cp:lastModifiedBy>NIVORA</cp:lastModifiedBy>
  <cp:revision>1</cp:revision>
  <dcterms:created xsi:type="dcterms:W3CDTF">2026-10-12T06:27:58Z</dcterms:created>
  <dcterms:modified xsi:type="dcterms:W3CDTF">2026-10-12T06:27:58Z</dcterms:modified>
</cp:coreProperties>
</file>